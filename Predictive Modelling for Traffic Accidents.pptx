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oboto"/>
      <p:regular r:id="rId17"/>
      <p:bold r:id="rId18"/>
      <p:italic r:id="rId19"/>
      <p:boldItalic r:id="rId20"/>
    </p:embeddedFont>
    <p:embeddedFont>
      <p:font typeface="Proxima Nova"/>
      <p:regular r:id="rId21"/>
      <p:bold r:id="rId22"/>
      <p:italic r:id="rId23"/>
      <p:boldItalic r:id="rId24"/>
    </p:embeddedFont>
    <p:embeddedFont>
      <p:font typeface="Montserrat"/>
      <p:regular r:id="rId25"/>
      <p:bold r:id="rId26"/>
      <p:italic r:id="rId27"/>
      <p:boldItalic r:id="rId28"/>
    </p:embeddedFont>
    <p:embeddedFont>
      <p:font typeface="Maven Pro Medium"/>
      <p:regular r:id="rId29"/>
      <p:bold r:id="rId30"/>
    </p:embeddedFont>
    <p:embeddedFont>
      <p:font typeface="Helvetica Neue"/>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E8182B-C4DA-4069-8877-F8A529ACC76D}">
  <a:tblStyle styleId="{37E8182B-C4DA-4069-8877-F8A529ACC76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ProximaNova-bold.fntdata"/><Relationship Id="rId21" Type="http://schemas.openxmlformats.org/officeDocument/2006/relationships/font" Target="fonts/ProximaNova-regular.fntdata"/><Relationship Id="rId24" Type="http://schemas.openxmlformats.org/officeDocument/2006/relationships/font" Target="fonts/ProximaNova-boldItalic.fntdata"/><Relationship Id="rId23"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avenPro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regular.fntdata"/><Relationship Id="rId30" Type="http://schemas.openxmlformats.org/officeDocument/2006/relationships/font" Target="fonts/MavenProMedium-bold.fntdata"/><Relationship Id="rId11" Type="http://schemas.openxmlformats.org/officeDocument/2006/relationships/slide" Target="slides/slide5.xml"/><Relationship Id="rId33" Type="http://schemas.openxmlformats.org/officeDocument/2006/relationships/font" Target="fonts/HelveticaNeue-italic.fntdata"/><Relationship Id="rId10" Type="http://schemas.openxmlformats.org/officeDocument/2006/relationships/slide" Target="slides/slide4.xml"/><Relationship Id="rId32" Type="http://schemas.openxmlformats.org/officeDocument/2006/relationships/font" Target="fonts/HelveticaNeue-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HelveticaNeue-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font" Target="fonts/Roboto-regular.fnt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a542d86a5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a542d86a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ba57766c15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ba57766c15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ba57766c1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ba57766c1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a57766c1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a57766c1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a542d86a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a542d86a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a56159941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a56159941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ba57766c15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ba57766c15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56159941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a56159941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ba542d86a5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ba542d86a5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a542d86a5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a542d86a5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C Pitch Deck Template 2"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744575"/>
            <a:ext cx="8520600" cy="16575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02A5C"/>
              </a:buClr>
              <a:buSzPts val="3800"/>
              <a:buNone/>
              <a:defRPr sz="3800">
                <a:solidFill>
                  <a:srgbClr val="002A5C"/>
                </a:solidFill>
              </a:defRPr>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11" name="Google Shape;11;p2"/>
          <p:cNvSpPr txBox="1"/>
          <p:nvPr>
            <p:ph idx="1" type="subTitle"/>
          </p:nvPr>
        </p:nvSpPr>
        <p:spPr>
          <a:xfrm>
            <a:off x="311700" y="224967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600"/>
              <a:buNone/>
              <a:defRPr sz="2600"/>
            </a:lvl1pPr>
            <a:lvl2pPr lvl="1" rtl="0" algn="ctr">
              <a:lnSpc>
                <a:spcPct val="100000"/>
              </a:lnSpc>
              <a:spcBef>
                <a:spcPts val="0"/>
              </a:spcBef>
              <a:spcAft>
                <a:spcPts val="0"/>
              </a:spcAft>
              <a:buSzPts val="2600"/>
              <a:buFont typeface="Open Sans"/>
              <a:buNone/>
              <a:defRPr sz="2600">
                <a:latin typeface="Open Sans"/>
                <a:ea typeface="Open Sans"/>
                <a:cs typeface="Open Sans"/>
                <a:sym typeface="Open Sans"/>
              </a:defRPr>
            </a:lvl2pPr>
            <a:lvl3pPr lvl="2" rtl="0" algn="ctr">
              <a:lnSpc>
                <a:spcPct val="100000"/>
              </a:lnSpc>
              <a:spcBef>
                <a:spcPts val="0"/>
              </a:spcBef>
              <a:spcAft>
                <a:spcPts val="0"/>
              </a:spcAft>
              <a:buSzPts val="2600"/>
              <a:buFont typeface="Open Sans"/>
              <a:buNone/>
              <a:defRPr sz="2600">
                <a:latin typeface="Open Sans"/>
                <a:ea typeface="Open Sans"/>
                <a:cs typeface="Open Sans"/>
                <a:sym typeface="Open Sans"/>
              </a:defRPr>
            </a:lvl3pPr>
            <a:lvl4pPr lvl="3" rtl="0" algn="ctr">
              <a:lnSpc>
                <a:spcPct val="100000"/>
              </a:lnSpc>
              <a:spcBef>
                <a:spcPts val="0"/>
              </a:spcBef>
              <a:spcAft>
                <a:spcPts val="0"/>
              </a:spcAft>
              <a:buSzPts val="2600"/>
              <a:buFont typeface="Open Sans"/>
              <a:buNone/>
              <a:defRPr sz="2600">
                <a:latin typeface="Open Sans"/>
                <a:ea typeface="Open Sans"/>
                <a:cs typeface="Open Sans"/>
                <a:sym typeface="Open Sans"/>
              </a:defRPr>
            </a:lvl4pPr>
            <a:lvl5pPr lvl="4" rtl="0" algn="ctr">
              <a:lnSpc>
                <a:spcPct val="100000"/>
              </a:lnSpc>
              <a:spcBef>
                <a:spcPts val="0"/>
              </a:spcBef>
              <a:spcAft>
                <a:spcPts val="0"/>
              </a:spcAft>
              <a:buSzPts val="2600"/>
              <a:buFont typeface="Open Sans"/>
              <a:buNone/>
              <a:defRPr sz="2600">
                <a:latin typeface="Open Sans"/>
                <a:ea typeface="Open Sans"/>
                <a:cs typeface="Open Sans"/>
                <a:sym typeface="Open Sans"/>
              </a:defRPr>
            </a:lvl5pPr>
            <a:lvl6pPr lvl="5" rtl="0" algn="ctr">
              <a:lnSpc>
                <a:spcPct val="100000"/>
              </a:lnSpc>
              <a:spcBef>
                <a:spcPts val="0"/>
              </a:spcBef>
              <a:spcAft>
                <a:spcPts val="0"/>
              </a:spcAft>
              <a:buSzPts val="2600"/>
              <a:buFont typeface="Open Sans"/>
              <a:buNone/>
              <a:defRPr sz="2600">
                <a:latin typeface="Open Sans"/>
                <a:ea typeface="Open Sans"/>
                <a:cs typeface="Open Sans"/>
                <a:sym typeface="Open Sans"/>
              </a:defRPr>
            </a:lvl6pPr>
            <a:lvl7pPr lvl="6" rtl="0" algn="ctr">
              <a:lnSpc>
                <a:spcPct val="100000"/>
              </a:lnSpc>
              <a:spcBef>
                <a:spcPts val="0"/>
              </a:spcBef>
              <a:spcAft>
                <a:spcPts val="0"/>
              </a:spcAft>
              <a:buSzPts val="2600"/>
              <a:buFont typeface="Open Sans"/>
              <a:buNone/>
              <a:defRPr sz="2600">
                <a:latin typeface="Open Sans"/>
                <a:ea typeface="Open Sans"/>
                <a:cs typeface="Open Sans"/>
                <a:sym typeface="Open Sans"/>
              </a:defRPr>
            </a:lvl7pPr>
            <a:lvl8pPr lvl="7" rtl="0" algn="ctr">
              <a:lnSpc>
                <a:spcPct val="100000"/>
              </a:lnSpc>
              <a:spcBef>
                <a:spcPts val="0"/>
              </a:spcBef>
              <a:spcAft>
                <a:spcPts val="0"/>
              </a:spcAft>
              <a:buSzPts val="2600"/>
              <a:buFont typeface="Open Sans"/>
              <a:buNone/>
              <a:defRPr sz="2600">
                <a:latin typeface="Open Sans"/>
                <a:ea typeface="Open Sans"/>
                <a:cs typeface="Open Sans"/>
                <a:sym typeface="Open Sans"/>
              </a:defRPr>
            </a:lvl8pPr>
            <a:lvl9pPr lvl="8" rtl="0" algn="ctr">
              <a:lnSpc>
                <a:spcPct val="100000"/>
              </a:lnSpc>
              <a:spcBef>
                <a:spcPts val="0"/>
              </a:spcBef>
              <a:spcAft>
                <a:spcPts val="0"/>
              </a:spcAft>
              <a:buSzPts val="2600"/>
              <a:buFont typeface="Open Sans"/>
              <a:buNone/>
              <a:defRPr sz="2600">
                <a:latin typeface="Open Sans"/>
                <a:ea typeface="Open Sans"/>
                <a:cs typeface="Open Sans"/>
                <a:sym typeface="Open Sans"/>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type="secHead">
  <p:cSld name="SECTION_HEADER">
    <p:bg>
      <p:bgPr>
        <a:gradFill>
          <a:gsLst>
            <a:gs pos="0">
              <a:srgbClr val="FFFFFF"/>
            </a:gs>
            <a:gs pos="58999">
              <a:srgbClr val="FFFFFF"/>
            </a:gs>
            <a:gs pos="100000">
              <a:srgbClr val="ABAFBC"/>
            </a:gs>
          </a:gsLst>
          <a:lin ang="5400012" scaled="0"/>
        </a:gradFill>
      </p:bgPr>
    </p:bg>
    <p:spTree>
      <p:nvGrpSpPr>
        <p:cNvPr id="13" name="Shape 13"/>
        <p:cNvGrpSpPr/>
        <p:nvPr/>
      </p:nvGrpSpPr>
      <p:grpSpPr>
        <a:xfrm>
          <a:off x="0" y="0"/>
          <a:ext cx="0" cy="0"/>
          <a:chOff x="0" y="0"/>
          <a:chExt cx="0" cy="0"/>
        </a:xfrm>
      </p:grpSpPr>
      <p:sp>
        <p:nvSpPr>
          <p:cNvPr id="14" name="Google Shape;14;p3"/>
          <p:cNvSpPr txBox="1"/>
          <p:nvPr>
            <p:ph idx="12" type="sldNum"/>
          </p:nvPr>
        </p:nvSpPr>
        <p:spPr>
          <a:xfrm>
            <a:off x="8179758" y="36726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3"/>
          <p:cNvSpPr/>
          <p:nvPr/>
        </p:nvSpPr>
        <p:spPr>
          <a:xfrm>
            <a:off x="5317748" y="1400698"/>
            <a:ext cx="3638100" cy="3638100"/>
          </a:xfrm>
          <a:prstGeom prst="ellipse">
            <a:avLst/>
          </a:prstGeom>
          <a:solidFill>
            <a:srgbClr val="002E6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6" name="Google Shape;16;p3"/>
          <p:cNvSpPr/>
          <p:nvPr/>
        </p:nvSpPr>
        <p:spPr>
          <a:xfrm>
            <a:off x="6223274" y="2306224"/>
            <a:ext cx="1827000" cy="1827000"/>
          </a:xfrm>
          <a:prstGeom prst="ellipse">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7" name="Google Shape;17;p3"/>
          <p:cNvSpPr txBox="1"/>
          <p:nvPr>
            <p:ph type="ctrTitle"/>
          </p:nvPr>
        </p:nvSpPr>
        <p:spPr>
          <a:xfrm>
            <a:off x="473650" y="1499850"/>
            <a:ext cx="4844100" cy="8814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002E6D"/>
              </a:buClr>
              <a:buSzPts val="3000"/>
              <a:buNone/>
              <a:defRPr sz="3000">
                <a:solidFill>
                  <a:srgbClr val="002E6D"/>
                </a:solidFill>
              </a:defRPr>
            </a:lvl1pPr>
            <a:lvl2pPr lvl="1" rtl="0">
              <a:spcBef>
                <a:spcPts val="0"/>
              </a:spcBef>
              <a:spcAft>
                <a:spcPts val="0"/>
              </a:spcAft>
              <a:buClr>
                <a:srgbClr val="002E6D"/>
              </a:buClr>
              <a:buSzPts val="3000"/>
              <a:buNone/>
              <a:defRPr sz="3000">
                <a:solidFill>
                  <a:srgbClr val="002E6D"/>
                </a:solidFill>
              </a:defRPr>
            </a:lvl2pPr>
            <a:lvl3pPr lvl="2" rtl="0">
              <a:spcBef>
                <a:spcPts val="0"/>
              </a:spcBef>
              <a:spcAft>
                <a:spcPts val="0"/>
              </a:spcAft>
              <a:buClr>
                <a:srgbClr val="002E6D"/>
              </a:buClr>
              <a:buSzPts val="3000"/>
              <a:buNone/>
              <a:defRPr sz="3000">
                <a:solidFill>
                  <a:srgbClr val="002E6D"/>
                </a:solidFill>
              </a:defRPr>
            </a:lvl3pPr>
            <a:lvl4pPr lvl="3" rtl="0">
              <a:spcBef>
                <a:spcPts val="0"/>
              </a:spcBef>
              <a:spcAft>
                <a:spcPts val="0"/>
              </a:spcAft>
              <a:buClr>
                <a:srgbClr val="002E6D"/>
              </a:buClr>
              <a:buSzPts val="3000"/>
              <a:buNone/>
              <a:defRPr sz="3000">
                <a:solidFill>
                  <a:srgbClr val="002E6D"/>
                </a:solidFill>
              </a:defRPr>
            </a:lvl4pPr>
            <a:lvl5pPr lvl="4" rtl="0">
              <a:spcBef>
                <a:spcPts val="0"/>
              </a:spcBef>
              <a:spcAft>
                <a:spcPts val="0"/>
              </a:spcAft>
              <a:buClr>
                <a:srgbClr val="002E6D"/>
              </a:buClr>
              <a:buSzPts val="3000"/>
              <a:buNone/>
              <a:defRPr sz="3000">
                <a:solidFill>
                  <a:srgbClr val="002E6D"/>
                </a:solidFill>
              </a:defRPr>
            </a:lvl5pPr>
            <a:lvl6pPr lvl="5" rtl="0">
              <a:spcBef>
                <a:spcPts val="0"/>
              </a:spcBef>
              <a:spcAft>
                <a:spcPts val="0"/>
              </a:spcAft>
              <a:buClr>
                <a:srgbClr val="002E6D"/>
              </a:buClr>
              <a:buSzPts val="3000"/>
              <a:buNone/>
              <a:defRPr sz="3000">
                <a:solidFill>
                  <a:srgbClr val="002E6D"/>
                </a:solidFill>
              </a:defRPr>
            </a:lvl6pPr>
            <a:lvl7pPr lvl="6" rtl="0">
              <a:spcBef>
                <a:spcPts val="0"/>
              </a:spcBef>
              <a:spcAft>
                <a:spcPts val="0"/>
              </a:spcAft>
              <a:buClr>
                <a:srgbClr val="002E6D"/>
              </a:buClr>
              <a:buSzPts val="3000"/>
              <a:buNone/>
              <a:defRPr sz="3000">
                <a:solidFill>
                  <a:srgbClr val="002E6D"/>
                </a:solidFill>
              </a:defRPr>
            </a:lvl7pPr>
            <a:lvl8pPr lvl="7" rtl="0">
              <a:spcBef>
                <a:spcPts val="0"/>
              </a:spcBef>
              <a:spcAft>
                <a:spcPts val="0"/>
              </a:spcAft>
              <a:buClr>
                <a:srgbClr val="002E6D"/>
              </a:buClr>
              <a:buSzPts val="3000"/>
              <a:buNone/>
              <a:defRPr sz="3000">
                <a:solidFill>
                  <a:srgbClr val="002E6D"/>
                </a:solidFill>
              </a:defRPr>
            </a:lvl8pPr>
            <a:lvl9pPr lvl="8" rtl="0">
              <a:spcBef>
                <a:spcPts val="0"/>
              </a:spcBef>
              <a:spcAft>
                <a:spcPts val="0"/>
              </a:spcAft>
              <a:buClr>
                <a:srgbClr val="002E6D"/>
              </a:buClr>
              <a:buSzPts val="3000"/>
              <a:buNone/>
              <a:defRPr sz="3000">
                <a:solidFill>
                  <a:srgbClr val="002E6D"/>
                </a:solidFill>
              </a:defRPr>
            </a:lvl9pPr>
          </a:lstStyle>
          <a:p/>
        </p:txBody>
      </p:sp>
      <p:sp>
        <p:nvSpPr>
          <p:cNvPr id="18" name="Google Shape;18;p3"/>
          <p:cNvSpPr txBox="1"/>
          <p:nvPr>
            <p:ph idx="1" type="subTitle"/>
          </p:nvPr>
        </p:nvSpPr>
        <p:spPr>
          <a:xfrm>
            <a:off x="480775" y="2361875"/>
            <a:ext cx="4963200" cy="792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798C97"/>
              </a:buClr>
              <a:buSzPts val="1400"/>
              <a:buNone/>
              <a:defRPr sz="1400">
                <a:solidFill>
                  <a:srgbClr val="798C97"/>
                </a:solidFill>
              </a:defRPr>
            </a:lvl1pPr>
            <a:lvl2pPr lvl="1"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2pPr>
            <a:lvl3pPr lvl="2"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3pPr>
            <a:lvl4pPr lvl="3"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4pPr>
            <a:lvl5pPr lvl="4"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5pPr>
            <a:lvl6pPr lvl="5"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6pPr>
            <a:lvl7pPr lvl="6"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7pPr>
            <a:lvl8pPr lvl="7"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8pPr>
            <a:lvl9pPr lvl="8" rtl="0">
              <a:lnSpc>
                <a:spcPct val="100000"/>
              </a:lnSpc>
              <a:spcBef>
                <a:spcPts val="0"/>
              </a:spcBef>
              <a:spcAft>
                <a:spcPts val="0"/>
              </a:spcAft>
              <a:buClr>
                <a:srgbClr val="798C97"/>
              </a:buClr>
              <a:buSzPts val="1400"/>
              <a:buFont typeface="Open Sans"/>
              <a:buNone/>
              <a:defRPr>
                <a:solidFill>
                  <a:srgbClr val="798C97"/>
                </a:solidFill>
                <a:latin typeface="Open Sans"/>
                <a:ea typeface="Open Sans"/>
                <a:cs typeface="Open Sans"/>
                <a:sym typeface="Open Sans"/>
              </a:defRPr>
            </a:lvl9pPr>
          </a:lstStyle>
          <a:p/>
        </p:txBody>
      </p:sp>
      <p:pic>
        <p:nvPicPr>
          <p:cNvPr id="19" name="Google Shape;19;p3"/>
          <p:cNvPicPr preferRelativeResize="0"/>
          <p:nvPr/>
        </p:nvPicPr>
        <p:blipFill rotWithShape="1">
          <a:blip r:embed="rId2">
            <a:alphaModFix/>
          </a:blip>
          <a:srcRect b="53022" l="0" r="44730" t="0"/>
          <a:stretch/>
        </p:blipFill>
        <p:spPr>
          <a:xfrm>
            <a:off x="6957925" y="3219450"/>
            <a:ext cx="2186075" cy="1924050"/>
          </a:xfrm>
          <a:prstGeom prst="rect">
            <a:avLst/>
          </a:prstGeom>
          <a:noFill/>
          <a:ln>
            <a:noFill/>
          </a:ln>
        </p:spPr>
      </p:pic>
      <p:sp>
        <p:nvSpPr>
          <p:cNvPr id="20" name="Google Shape;20;p3"/>
          <p:cNvSpPr/>
          <p:nvPr/>
        </p:nvSpPr>
        <p:spPr>
          <a:xfrm>
            <a:off x="6944365" y="3027315"/>
            <a:ext cx="384863" cy="384863"/>
          </a:xfrm>
          <a:prstGeom prst="ellipse">
            <a:avLst/>
          </a:pr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21" name="Google Shape;21;p3"/>
          <p:cNvSpPr/>
          <p:nvPr/>
        </p:nvSpPr>
        <p:spPr>
          <a:xfrm rot="10800000">
            <a:off x="7078494" y="3161013"/>
            <a:ext cx="116620" cy="117470"/>
          </a:xfrm>
          <a:custGeom>
            <a:rect b="b" l="l" r="r" t="t"/>
            <a:pathLst>
              <a:path extrusionOk="0" h="21600" w="21600">
                <a:moveTo>
                  <a:pt x="21600" y="9507"/>
                </a:moveTo>
                <a:lnTo>
                  <a:pt x="4949" y="9507"/>
                </a:lnTo>
                <a:lnTo>
                  <a:pt x="12762" y="1817"/>
                </a:lnTo>
                <a:lnTo>
                  <a:pt x="10676" y="0"/>
                </a:lnTo>
                <a:lnTo>
                  <a:pt x="0" y="10800"/>
                </a:lnTo>
                <a:lnTo>
                  <a:pt x="10676" y="21600"/>
                </a:lnTo>
                <a:lnTo>
                  <a:pt x="12762" y="19538"/>
                </a:lnTo>
                <a:lnTo>
                  <a:pt x="4949" y="12093"/>
                </a:lnTo>
                <a:lnTo>
                  <a:pt x="21600" y="12093"/>
                </a:lnTo>
                <a:lnTo>
                  <a:pt x="21600" y="9507"/>
                </a:lnTo>
              </a:path>
            </a:pathLst>
          </a:custGeom>
          <a:solidFill>
            <a:srgbClr val="FFFFFF"/>
          </a:solidFill>
          <a:ln>
            <a:noFill/>
          </a:ln>
        </p:spPr>
        <p:txBody>
          <a:bodyPr anchorCtr="0" anchor="ctr" bIns="17150" lIns="17150" spcFirstLastPara="1" rIns="17150" wrap="square" tIns="17150">
            <a:noAutofit/>
          </a:bodyPr>
          <a:lstStyle/>
          <a:p>
            <a:pPr indent="0" lvl="0" marL="0" marR="0" rtl="0" algn="l">
              <a:lnSpc>
                <a:spcPct val="100000"/>
              </a:lnSpc>
              <a:spcBef>
                <a:spcPts val="0"/>
              </a:spcBef>
              <a:spcAft>
                <a:spcPts val="0"/>
              </a:spcAft>
              <a:buClr>
                <a:srgbClr val="000000"/>
              </a:buClr>
              <a:buSzPts val="1100"/>
              <a:buFont typeface="Roboto"/>
              <a:buNone/>
            </a:pPr>
            <a:r>
              <a:t/>
            </a:r>
            <a:endParaRPr b="1" i="0" sz="1100" u="none" cap="none" strike="noStrike">
              <a:solidFill>
                <a:srgbClr val="000000"/>
              </a:solidFill>
              <a:latin typeface="Helvetica Neue"/>
              <a:ea typeface="Helvetica Neue"/>
              <a:cs typeface="Helvetica Neue"/>
              <a:sym typeface="Helvetica Neue"/>
            </a:endParaRPr>
          </a:p>
        </p:txBody>
      </p:sp>
      <p:pic>
        <p:nvPicPr>
          <p:cNvPr id="22" name="Google Shape;22;p3"/>
          <p:cNvPicPr preferRelativeResize="0"/>
          <p:nvPr/>
        </p:nvPicPr>
        <p:blipFill>
          <a:blip r:embed="rId3">
            <a:alphaModFix/>
          </a:blip>
          <a:stretch>
            <a:fillRect/>
          </a:stretch>
        </p:blipFill>
        <p:spPr>
          <a:xfrm>
            <a:off x="353675" y="223185"/>
            <a:ext cx="1049524" cy="1902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gradient">
  <p:cSld name="SECTION_HEADER_1">
    <p:bg>
      <p:bgPr>
        <a:gradFill>
          <a:gsLst>
            <a:gs pos="0">
              <a:srgbClr val="FFFFFF"/>
            </a:gs>
            <a:gs pos="58999">
              <a:srgbClr val="FFFFFF"/>
            </a:gs>
            <a:gs pos="100000">
              <a:srgbClr val="ABAFBC"/>
            </a:gs>
          </a:gsLst>
          <a:lin ang="5400012" scaled="0"/>
        </a:gradFill>
      </p:bgPr>
    </p:bg>
    <p:spTree>
      <p:nvGrpSpPr>
        <p:cNvPr id="23" name="Shape 23"/>
        <p:cNvGrpSpPr/>
        <p:nvPr/>
      </p:nvGrpSpPr>
      <p:grpSpPr>
        <a:xfrm>
          <a:off x="0" y="0"/>
          <a:ext cx="0" cy="0"/>
          <a:chOff x="0" y="0"/>
          <a:chExt cx="0" cy="0"/>
        </a:xfrm>
      </p:grpSpPr>
      <p:cxnSp>
        <p:nvCxnSpPr>
          <p:cNvPr id="24" name="Google Shape;24;p4"/>
          <p:cNvCxnSpPr>
            <a:stCxn id="25" idx="3"/>
          </p:cNvCxnSpPr>
          <p:nvPr/>
        </p:nvCxnSpPr>
        <p:spPr>
          <a:xfrm>
            <a:off x="1403199" y="4853389"/>
            <a:ext cx="7340700" cy="6600"/>
          </a:xfrm>
          <a:prstGeom prst="straightConnector1">
            <a:avLst/>
          </a:prstGeom>
          <a:noFill/>
          <a:ln cap="flat" cmpd="sng" w="9525">
            <a:solidFill>
              <a:srgbClr val="ABAFBC"/>
            </a:solidFill>
            <a:prstDash val="solid"/>
            <a:round/>
            <a:headEnd len="med" w="med" type="none"/>
            <a:tailEnd len="med" w="med" type="none"/>
          </a:ln>
        </p:spPr>
      </p:cxn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7" name="Google Shape;27;p4"/>
          <p:cNvPicPr preferRelativeResize="0"/>
          <p:nvPr/>
        </p:nvPicPr>
        <p:blipFill>
          <a:blip r:embed="rId2">
            <a:alphaModFix/>
          </a:blip>
          <a:stretch>
            <a:fillRect/>
          </a:stretch>
        </p:blipFill>
        <p:spPr>
          <a:xfrm>
            <a:off x="7791136" y="200298"/>
            <a:ext cx="1105213" cy="338401"/>
          </a:xfrm>
          <a:prstGeom prst="rect">
            <a:avLst/>
          </a:prstGeom>
          <a:noFill/>
          <a:ln>
            <a:noFill/>
          </a:ln>
        </p:spPr>
      </p:pic>
      <p:pic>
        <p:nvPicPr>
          <p:cNvPr id="28" name="Google Shape;28;p4"/>
          <p:cNvPicPr preferRelativeResize="0"/>
          <p:nvPr/>
        </p:nvPicPr>
        <p:blipFill>
          <a:blip r:embed="rId3">
            <a:alphaModFix/>
          </a:blip>
          <a:stretch>
            <a:fillRect/>
          </a:stretch>
        </p:blipFill>
        <p:spPr>
          <a:xfrm>
            <a:off x="381000" y="-9525"/>
            <a:ext cx="449497" cy="466800"/>
          </a:xfrm>
          <a:prstGeom prst="rect">
            <a:avLst/>
          </a:prstGeom>
          <a:noFill/>
          <a:ln>
            <a:noFill/>
          </a:ln>
        </p:spPr>
      </p:pic>
      <p:sp>
        <p:nvSpPr>
          <p:cNvPr id="29" name="Google Shape;29;p4"/>
          <p:cNvSpPr/>
          <p:nvPr/>
        </p:nvSpPr>
        <p:spPr>
          <a:xfrm>
            <a:off x="628650" y="-9525"/>
            <a:ext cx="8524800" cy="466800"/>
          </a:xfrm>
          <a:prstGeom prst="rect">
            <a:avLst/>
          </a:prstGeom>
          <a:solidFill>
            <a:srgbClr val="D00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000"/>
              <a:buNone/>
              <a:defRPr sz="2000">
                <a:solidFill>
                  <a:srgbClr val="FFFFFF"/>
                </a:solidFill>
              </a:defRPr>
            </a:lvl1pPr>
            <a:lvl2pPr lvl="1" rtl="0" algn="ctr">
              <a:spcBef>
                <a:spcPts val="0"/>
              </a:spcBef>
              <a:spcAft>
                <a:spcPts val="0"/>
              </a:spcAft>
              <a:buClr>
                <a:srgbClr val="FFFFFF"/>
              </a:buClr>
              <a:buSzPts val="2000"/>
              <a:buNone/>
              <a:defRPr sz="2000">
                <a:solidFill>
                  <a:srgbClr val="FFFFFF"/>
                </a:solidFill>
              </a:defRPr>
            </a:lvl2pPr>
            <a:lvl3pPr lvl="2" rtl="0" algn="ctr">
              <a:spcBef>
                <a:spcPts val="0"/>
              </a:spcBef>
              <a:spcAft>
                <a:spcPts val="0"/>
              </a:spcAft>
              <a:buClr>
                <a:srgbClr val="FFFFFF"/>
              </a:buClr>
              <a:buSzPts val="2000"/>
              <a:buNone/>
              <a:defRPr sz="2000">
                <a:solidFill>
                  <a:srgbClr val="FFFFFF"/>
                </a:solidFill>
              </a:defRPr>
            </a:lvl3pPr>
            <a:lvl4pPr lvl="3" rtl="0" algn="ctr">
              <a:spcBef>
                <a:spcPts val="0"/>
              </a:spcBef>
              <a:spcAft>
                <a:spcPts val="0"/>
              </a:spcAft>
              <a:buClr>
                <a:srgbClr val="FFFFFF"/>
              </a:buClr>
              <a:buSzPts val="2000"/>
              <a:buNone/>
              <a:defRPr sz="2000">
                <a:solidFill>
                  <a:srgbClr val="FFFFFF"/>
                </a:solidFill>
              </a:defRPr>
            </a:lvl4pPr>
            <a:lvl5pPr lvl="4" rtl="0" algn="ctr">
              <a:spcBef>
                <a:spcPts val="0"/>
              </a:spcBef>
              <a:spcAft>
                <a:spcPts val="0"/>
              </a:spcAft>
              <a:buClr>
                <a:srgbClr val="FFFFFF"/>
              </a:buClr>
              <a:buSzPts val="2000"/>
              <a:buNone/>
              <a:defRPr sz="2000">
                <a:solidFill>
                  <a:srgbClr val="FFFFFF"/>
                </a:solidFill>
              </a:defRPr>
            </a:lvl5pPr>
            <a:lvl6pPr lvl="5" rtl="0" algn="ctr">
              <a:spcBef>
                <a:spcPts val="0"/>
              </a:spcBef>
              <a:spcAft>
                <a:spcPts val="0"/>
              </a:spcAft>
              <a:buClr>
                <a:srgbClr val="FFFFFF"/>
              </a:buClr>
              <a:buSzPts val="2000"/>
              <a:buNone/>
              <a:defRPr sz="2000">
                <a:solidFill>
                  <a:srgbClr val="FFFFFF"/>
                </a:solidFill>
              </a:defRPr>
            </a:lvl6pPr>
            <a:lvl7pPr lvl="6" rtl="0" algn="ctr">
              <a:spcBef>
                <a:spcPts val="0"/>
              </a:spcBef>
              <a:spcAft>
                <a:spcPts val="0"/>
              </a:spcAft>
              <a:buClr>
                <a:srgbClr val="FFFFFF"/>
              </a:buClr>
              <a:buSzPts val="2000"/>
              <a:buNone/>
              <a:defRPr sz="2000">
                <a:solidFill>
                  <a:srgbClr val="FFFFFF"/>
                </a:solidFill>
              </a:defRPr>
            </a:lvl7pPr>
            <a:lvl8pPr lvl="7" rtl="0" algn="ctr">
              <a:spcBef>
                <a:spcPts val="0"/>
              </a:spcBef>
              <a:spcAft>
                <a:spcPts val="0"/>
              </a:spcAft>
              <a:buClr>
                <a:srgbClr val="FFFFFF"/>
              </a:buClr>
              <a:buSzPts val="2000"/>
              <a:buNone/>
              <a:defRPr sz="2000">
                <a:solidFill>
                  <a:srgbClr val="FFFFFF"/>
                </a:solidFill>
              </a:defRPr>
            </a:lvl8pPr>
            <a:lvl9pPr lvl="8" rtl="0" algn="ctr">
              <a:spcBef>
                <a:spcPts val="0"/>
              </a:spcBef>
              <a:spcAft>
                <a:spcPts val="0"/>
              </a:spcAft>
              <a:buClr>
                <a:srgbClr val="FFFFFF"/>
              </a:buClr>
              <a:buSzPts val="2000"/>
              <a:buNone/>
              <a:defRPr sz="2000">
                <a:solidFill>
                  <a:srgbClr val="FFFFFF"/>
                </a:solidFill>
              </a:defRPr>
            </a:lvl9pPr>
          </a:lstStyle>
          <a:p/>
        </p:txBody>
      </p:sp>
      <p:pic>
        <p:nvPicPr>
          <p:cNvPr id="25" name="Google Shape;25;p4"/>
          <p:cNvPicPr preferRelativeResize="0"/>
          <p:nvPr/>
        </p:nvPicPr>
        <p:blipFill>
          <a:blip r:embed="rId4">
            <a:alphaModFix/>
          </a:blip>
          <a:stretch>
            <a:fillRect/>
          </a:stretch>
        </p:blipFill>
        <p:spPr>
          <a:xfrm>
            <a:off x="353675" y="4758277"/>
            <a:ext cx="1049524" cy="1902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age - Full" type="tx">
  <p:cSld name="TITLE_AND_BODY">
    <p:bg>
      <p:bgPr>
        <a:gradFill>
          <a:gsLst>
            <a:gs pos="0">
              <a:srgbClr val="FFFFFF"/>
            </a:gs>
            <a:gs pos="58999">
              <a:srgbClr val="FFFFFF"/>
            </a:gs>
            <a:gs pos="100000">
              <a:srgbClr val="ABAFBC">
                <a:alpha val="26666"/>
              </a:srgbClr>
            </a:gs>
          </a:gsLst>
          <a:lin ang="5400012" scaled="0"/>
        </a:gradFill>
      </p:bgPr>
    </p:bg>
    <p:spTree>
      <p:nvGrpSpPr>
        <p:cNvPr id="31" name="Shape 31"/>
        <p:cNvGrpSpPr/>
        <p:nvPr/>
      </p:nvGrpSpPr>
      <p:grpSpPr>
        <a:xfrm>
          <a:off x="0" y="0"/>
          <a:ext cx="0" cy="0"/>
          <a:chOff x="0" y="0"/>
          <a:chExt cx="0" cy="0"/>
        </a:xfrm>
      </p:grpSpPr>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3" name="Google Shape;33;p5"/>
          <p:cNvPicPr preferRelativeResize="0"/>
          <p:nvPr/>
        </p:nvPicPr>
        <p:blipFill>
          <a:blip r:embed="rId2">
            <a:alphaModFix/>
          </a:blip>
          <a:stretch>
            <a:fillRect/>
          </a:stretch>
        </p:blipFill>
        <p:spPr>
          <a:xfrm>
            <a:off x="7791136" y="200298"/>
            <a:ext cx="1105213" cy="338401"/>
          </a:xfrm>
          <a:prstGeom prst="rect">
            <a:avLst/>
          </a:prstGeom>
          <a:noFill/>
          <a:ln>
            <a:noFill/>
          </a:ln>
        </p:spPr>
      </p:pic>
      <p:cxnSp>
        <p:nvCxnSpPr>
          <p:cNvPr id="34" name="Google Shape;34;p5"/>
          <p:cNvCxnSpPr/>
          <p:nvPr/>
        </p:nvCxnSpPr>
        <p:spPr>
          <a:xfrm>
            <a:off x="1614725" y="4844200"/>
            <a:ext cx="7129200" cy="15900"/>
          </a:xfrm>
          <a:prstGeom prst="straightConnector1">
            <a:avLst/>
          </a:prstGeom>
          <a:noFill/>
          <a:ln cap="flat" cmpd="sng" w="9525">
            <a:solidFill>
              <a:srgbClr val="ABAFBC"/>
            </a:solidFill>
            <a:prstDash val="solid"/>
            <a:round/>
            <a:headEnd len="med" w="med" type="none"/>
            <a:tailEnd len="med" w="med" type="none"/>
          </a:ln>
        </p:spPr>
      </p:cxnSp>
      <p:sp>
        <p:nvSpPr>
          <p:cNvPr id="35" name="Google Shape;35;p5"/>
          <p:cNvSpPr txBox="1"/>
          <p:nvPr>
            <p:ph idx="1" type="subTitle"/>
          </p:nvPr>
        </p:nvSpPr>
        <p:spPr>
          <a:xfrm>
            <a:off x="895350" y="1267875"/>
            <a:ext cx="74013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2A5C"/>
              </a:buClr>
              <a:buSzPts val="1400"/>
              <a:buNone/>
              <a:defRPr sz="1400">
                <a:solidFill>
                  <a:srgbClr val="002A5C"/>
                </a:solidFill>
              </a:defRPr>
            </a:lvl1pPr>
            <a:lvl2pPr lvl="1"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2pPr>
            <a:lvl3pPr lvl="2"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3pPr>
            <a:lvl4pPr lvl="3"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4pPr>
            <a:lvl5pPr lvl="4"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5pPr>
            <a:lvl6pPr lvl="5"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6pPr>
            <a:lvl7pPr lvl="6"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7pPr>
            <a:lvl8pPr lvl="7"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8pPr>
            <a:lvl9pPr lvl="8"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9pPr>
          </a:lstStyle>
          <a:p/>
        </p:txBody>
      </p:sp>
      <p:sp>
        <p:nvSpPr>
          <p:cNvPr id="36" name="Google Shape;36;p5"/>
          <p:cNvSpPr txBox="1"/>
          <p:nvPr>
            <p:ph idx="2" type="subTitle"/>
          </p:nvPr>
        </p:nvSpPr>
        <p:spPr>
          <a:xfrm>
            <a:off x="895350" y="1725075"/>
            <a:ext cx="74013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798C97"/>
              </a:buClr>
              <a:buSzPts val="1000"/>
              <a:buNone/>
              <a:defRPr sz="1000">
                <a:solidFill>
                  <a:srgbClr val="798C97"/>
                </a:solidFill>
              </a:defRPr>
            </a:lvl1pPr>
            <a:lvl2pPr lvl="1"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2pPr>
            <a:lvl3pPr lvl="2"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3pPr>
            <a:lvl4pPr lvl="3"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4pPr>
            <a:lvl5pPr lvl="4"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5pPr>
            <a:lvl6pPr lvl="5"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6pPr>
            <a:lvl7pPr lvl="6"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7pPr>
            <a:lvl8pPr lvl="7"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8pPr>
            <a:lvl9pPr lvl="8"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9pPr>
          </a:lstStyle>
          <a:p/>
        </p:txBody>
      </p:sp>
      <p:sp>
        <p:nvSpPr>
          <p:cNvPr id="37" name="Google Shape;37;p5"/>
          <p:cNvSpPr txBox="1"/>
          <p:nvPr>
            <p:ph idx="3" type="subTitle"/>
          </p:nvPr>
        </p:nvSpPr>
        <p:spPr>
          <a:xfrm>
            <a:off x="895350" y="975722"/>
            <a:ext cx="74013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2A5C"/>
              </a:buClr>
              <a:buSzPts val="1800"/>
              <a:buFont typeface="Montserrat"/>
              <a:buNone/>
              <a:defRPr b="1">
                <a:solidFill>
                  <a:srgbClr val="002A5C"/>
                </a:solidFill>
                <a:latin typeface="Montserrat"/>
                <a:ea typeface="Montserrat"/>
                <a:cs typeface="Montserrat"/>
                <a:sym typeface="Montserrat"/>
              </a:defRPr>
            </a:lvl1pPr>
            <a:lvl2pPr lvl="1"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2pPr>
            <a:lvl3pPr lvl="2"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3pPr>
            <a:lvl4pPr lvl="3"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4pPr>
            <a:lvl5pPr lvl="4"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5pPr>
            <a:lvl6pPr lvl="5"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6pPr>
            <a:lvl7pPr lvl="6"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7pPr>
            <a:lvl8pPr lvl="7"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8pPr>
            <a:lvl9pPr lvl="8"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9pPr>
          </a:lstStyle>
          <a:p/>
        </p:txBody>
      </p:sp>
      <p:pic>
        <p:nvPicPr>
          <p:cNvPr id="38" name="Google Shape;38;p5"/>
          <p:cNvPicPr preferRelativeResize="0"/>
          <p:nvPr/>
        </p:nvPicPr>
        <p:blipFill>
          <a:blip r:embed="rId3">
            <a:alphaModFix/>
          </a:blip>
          <a:stretch>
            <a:fillRect/>
          </a:stretch>
        </p:blipFill>
        <p:spPr>
          <a:xfrm>
            <a:off x="381000" y="-9525"/>
            <a:ext cx="449497" cy="466800"/>
          </a:xfrm>
          <a:prstGeom prst="rect">
            <a:avLst/>
          </a:prstGeom>
          <a:noFill/>
          <a:ln>
            <a:noFill/>
          </a:ln>
        </p:spPr>
      </p:pic>
      <p:sp>
        <p:nvSpPr>
          <p:cNvPr id="39" name="Google Shape;39;p5"/>
          <p:cNvSpPr/>
          <p:nvPr/>
        </p:nvSpPr>
        <p:spPr>
          <a:xfrm>
            <a:off x="628650" y="-9525"/>
            <a:ext cx="8524800" cy="466800"/>
          </a:xfrm>
          <a:prstGeom prst="rect">
            <a:avLst/>
          </a:prstGeom>
          <a:solidFill>
            <a:srgbClr val="D00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000"/>
              <a:buNone/>
              <a:defRPr sz="2000">
                <a:solidFill>
                  <a:srgbClr val="FFFFFF"/>
                </a:solidFill>
              </a:defRPr>
            </a:lvl1pPr>
            <a:lvl2pPr lvl="1" rtl="0" algn="ctr">
              <a:spcBef>
                <a:spcPts val="0"/>
              </a:spcBef>
              <a:spcAft>
                <a:spcPts val="0"/>
              </a:spcAft>
              <a:buClr>
                <a:srgbClr val="FFFFFF"/>
              </a:buClr>
              <a:buSzPts val="2000"/>
              <a:buNone/>
              <a:defRPr sz="2000">
                <a:solidFill>
                  <a:srgbClr val="FFFFFF"/>
                </a:solidFill>
              </a:defRPr>
            </a:lvl2pPr>
            <a:lvl3pPr lvl="2" rtl="0" algn="ctr">
              <a:spcBef>
                <a:spcPts val="0"/>
              </a:spcBef>
              <a:spcAft>
                <a:spcPts val="0"/>
              </a:spcAft>
              <a:buClr>
                <a:srgbClr val="FFFFFF"/>
              </a:buClr>
              <a:buSzPts val="2000"/>
              <a:buNone/>
              <a:defRPr sz="2000">
                <a:solidFill>
                  <a:srgbClr val="FFFFFF"/>
                </a:solidFill>
              </a:defRPr>
            </a:lvl3pPr>
            <a:lvl4pPr lvl="3" rtl="0" algn="ctr">
              <a:spcBef>
                <a:spcPts val="0"/>
              </a:spcBef>
              <a:spcAft>
                <a:spcPts val="0"/>
              </a:spcAft>
              <a:buClr>
                <a:srgbClr val="FFFFFF"/>
              </a:buClr>
              <a:buSzPts val="2000"/>
              <a:buNone/>
              <a:defRPr sz="2000">
                <a:solidFill>
                  <a:srgbClr val="FFFFFF"/>
                </a:solidFill>
              </a:defRPr>
            </a:lvl4pPr>
            <a:lvl5pPr lvl="4" rtl="0" algn="ctr">
              <a:spcBef>
                <a:spcPts val="0"/>
              </a:spcBef>
              <a:spcAft>
                <a:spcPts val="0"/>
              </a:spcAft>
              <a:buClr>
                <a:srgbClr val="FFFFFF"/>
              </a:buClr>
              <a:buSzPts val="2000"/>
              <a:buNone/>
              <a:defRPr sz="2000">
                <a:solidFill>
                  <a:srgbClr val="FFFFFF"/>
                </a:solidFill>
              </a:defRPr>
            </a:lvl5pPr>
            <a:lvl6pPr lvl="5" rtl="0" algn="ctr">
              <a:spcBef>
                <a:spcPts val="0"/>
              </a:spcBef>
              <a:spcAft>
                <a:spcPts val="0"/>
              </a:spcAft>
              <a:buClr>
                <a:srgbClr val="FFFFFF"/>
              </a:buClr>
              <a:buSzPts val="2000"/>
              <a:buNone/>
              <a:defRPr sz="2000">
                <a:solidFill>
                  <a:srgbClr val="FFFFFF"/>
                </a:solidFill>
              </a:defRPr>
            </a:lvl6pPr>
            <a:lvl7pPr lvl="6" rtl="0" algn="ctr">
              <a:spcBef>
                <a:spcPts val="0"/>
              </a:spcBef>
              <a:spcAft>
                <a:spcPts val="0"/>
              </a:spcAft>
              <a:buClr>
                <a:srgbClr val="FFFFFF"/>
              </a:buClr>
              <a:buSzPts val="2000"/>
              <a:buNone/>
              <a:defRPr sz="2000">
                <a:solidFill>
                  <a:srgbClr val="FFFFFF"/>
                </a:solidFill>
              </a:defRPr>
            </a:lvl7pPr>
            <a:lvl8pPr lvl="7" rtl="0" algn="ctr">
              <a:spcBef>
                <a:spcPts val="0"/>
              </a:spcBef>
              <a:spcAft>
                <a:spcPts val="0"/>
              </a:spcAft>
              <a:buClr>
                <a:srgbClr val="FFFFFF"/>
              </a:buClr>
              <a:buSzPts val="2000"/>
              <a:buNone/>
              <a:defRPr sz="2000">
                <a:solidFill>
                  <a:srgbClr val="FFFFFF"/>
                </a:solidFill>
              </a:defRPr>
            </a:lvl8pPr>
            <a:lvl9pPr lvl="8" rtl="0" algn="ctr">
              <a:spcBef>
                <a:spcPts val="0"/>
              </a:spcBef>
              <a:spcAft>
                <a:spcPts val="0"/>
              </a:spcAft>
              <a:buClr>
                <a:srgbClr val="FFFFFF"/>
              </a:buClr>
              <a:buSzPts val="2000"/>
              <a:buNone/>
              <a:defRPr sz="2000">
                <a:solidFill>
                  <a:srgbClr val="FFFFFF"/>
                </a:solidFill>
              </a:defRPr>
            </a:lvl9pPr>
          </a:lstStyle>
          <a:p/>
        </p:txBody>
      </p:sp>
      <p:pic>
        <p:nvPicPr>
          <p:cNvPr id="41" name="Google Shape;41;p5"/>
          <p:cNvPicPr preferRelativeResize="0"/>
          <p:nvPr/>
        </p:nvPicPr>
        <p:blipFill>
          <a:blip r:embed="rId4">
            <a:alphaModFix/>
          </a:blip>
          <a:stretch>
            <a:fillRect/>
          </a:stretch>
        </p:blipFill>
        <p:spPr>
          <a:xfrm>
            <a:off x="353675" y="4749050"/>
            <a:ext cx="1049524" cy="1902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age - Side by side">
  <p:cSld name="TITLE_AND_BODY_1">
    <p:bg>
      <p:bgPr>
        <a:gradFill>
          <a:gsLst>
            <a:gs pos="0">
              <a:srgbClr val="FFFFFF"/>
            </a:gs>
            <a:gs pos="58999">
              <a:srgbClr val="FFFFFF"/>
            </a:gs>
            <a:gs pos="100000">
              <a:srgbClr val="ABAFBC">
                <a:alpha val="26666"/>
              </a:srgbClr>
            </a:gs>
          </a:gsLst>
          <a:lin ang="5400012" scaled="0"/>
        </a:gradFill>
      </p:bgPr>
    </p:bg>
    <p:spTree>
      <p:nvGrpSpPr>
        <p:cNvPr id="42" name="Shape 42"/>
        <p:cNvGrpSpPr/>
        <p:nvPr/>
      </p:nvGrpSpPr>
      <p:grpSpPr>
        <a:xfrm>
          <a:off x="0" y="0"/>
          <a:ext cx="0" cy="0"/>
          <a:chOff x="0" y="0"/>
          <a:chExt cx="0" cy="0"/>
        </a:xfrm>
      </p:grpSpPr>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txBox="1"/>
          <p:nvPr>
            <p:ph idx="1" type="subTitle"/>
          </p:nvPr>
        </p:nvSpPr>
        <p:spPr>
          <a:xfrm>
            <a:off x="895350" y="1616000"/>
            <a:ext cx="29367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2A5C"/>
              </a:buClr>
              <a:buSzPts val="1400"/>
              <a:buNone/>
              <a:defRPr sz="1400">
                <a:solidFill>
                  <a:srgbClr val="002A5C"/>
                </a:solidFill>
              </a:defRPr>
            </a:lvl1pPr>
            <a:lvl2pPr lvl="1"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2pPr>
            <a:lvl3pPr lvl="2"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3pPr>
            <a:lvl4pPr lvl="3"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4pPr>
            <a:lvl5pPr lvl="4"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5pPr>
            <a:lvl6pPr lvl="5"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6pPr>
            <a:lvl7pPr lvl="6"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7pPr>
            <a:lvl8pPr lvl="7"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8pPr>
            <a:lvl9pPr lvl="8"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9pPr>
          </a:lstStyle>
          <a:p/>
        </p:txBody>
      </p:sp>
      <p:sp>
        <p:nvSpPr>
          <p:cNvPr id="45" name="Google Shape;45;p6"/>
          <p:cNvSpPr txBox="1"/>
          <p:nvPr>
            <p:ph idx="2" type="subTitle"/>
          </p:nvPr>
        </p:nvSpPr>
        <p:spPr>
          <a:xfrm>
            <a:off x="3956000" y="1016825"/>
            <a:ext cx="49404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798C97"/>
              </a:buClr>
              <a:buSzPts val="1000"/>
              <a:buNone/>
              <a:defRPr sz="1000">
                <a:solidFill>
                  <a:srgbClr val="798C97"/>
                </a:solidFill>
              </a:defRPr>
            </a:lvl1pPr>
            <a:lvl2pPr lvl="1"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2pPr>
            <a:lvl3pPr lvl="2"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3pPr>
            <a:lvl4pPr lvl="3"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4pPr>
            <a:lvl5pPr lvl="4"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5pPr>
            <a:lvl6pPr lvl="5"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6pPr>
            <a:lvl7pPr lvl="6"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7pPr>
            <a:lvl8pPr lvl="7"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8pPr>
            <a:lvl9pPr lvl="8"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9pPr>
          </a:lstStyle>
          <a:p/>
        </p:txBody>
      </p:sp>
      <p:sp>
        <p:nvSpPr>
          <p:cNvPr id="46" name="Google Shape;46;p6"/>
          <p:cNvSpPr txBox="1"/>
          <p:nvPr>
            <p:ph idx="3" type="subTitle"/>
          </p:nvPr>
        </p:nvSpPr>
        <p:spPr>
          <a:xfrm>
            <a:off x="895350" y="975725"/>
            <a:ext cx="29367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2A5C"/>
              </a:buClr>
              <a:buSzPts val="1800"/>
              <a:buFont typeface="Montserrat"/>
              <a:buNone/>
              <a:defRPr b="1">
                <a:solidFill>
                  <a:srgbClr val="002A5C"/>
                </a:solidFill>
                <a:latin typeface="Montserrat"/>
                <a:ea typeface="Montserrat"/>
                <a:cs typeface="Montserrat"/>
                <a:sym typeface="Montserrat"/>
              </a:defRPr>
            </a:lvl1pPr>
            <a:lvl2pPr lvl="1"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2pPr>
            <a:lvl3pPr lvl="2"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3pPr>
            <a:lvl4pPr lvl="3"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4pPr>
            <a:lvl5pPr lvl="4"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5pPr>
            <a:lvl6pPr lvl="5"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6pPr>
            <a:lvl7pPr lvl="6"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7pPr>
            <a:lvl8pPr lvl="7"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8pPr>
            <a:lvl9pPr lvl="8" rtl="0" algn="ctr">
              <a:lnSpc>
                <a:spcPct val="10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9pPr>
          </a:lstStyle>
          <a:p/>
        </p:txBody>
      </p:sp>
      <p:pic>
        <p:nvPicPr>
          <p:cNvPr id="47" name="Google Shape;47;p6"/>
          <p:cNvPicPr preferRelativeResize="0"/>
          <p:nvPr/>
        </p:nvPicPr>
        <p:blipFill>
          <a:blip r:embed="rId2">
            <a:alphaModFix/>
          </a:blip>
          <a:stretch>
            <a:fillRect/>
          </a:stretch>
        </p:blipFill>
        <p:spPr>
          <a:xfrm>
            <a:off x="7791136" y="200298"/>
            <a:ext cx="1105213" cy="338401"/>
          </a:xfrm>
          <a:prstGeom prst="rect">
            <a:avLst/>
          </a:prstGeom>
          <a:noFill/>
          <a:ln>
            <a:noFill/>
          </a:ln>
        </p:spPr>
      </p:pic>
      <p:pic>
        <p:nvPicPr>
          <p:cNvPr id="48" name="Google Shape;48;p6"/>
          <p:cNvPicPr preferRelativeResize="0"/>
          <p:nvPr/>
        </p:nvPicPr>
        <p:blipFill>
          <a:blip r:embed="rId3">
            <a:alphaModFix/>
          </a:blip>
          <a:stretch>
            <a:fillRect/>
          </a:stretch>
        </p:blipFill>
        <p:spPr>
          <a:xfrm>
            <a:off x="371475" y="-9525"/>
            <a:ext cx="449425" cy="466725"/>
          </a:xfrm>
          <a:prstGeom prst="rect">
            <a:avLst/>
          </a:prstGeom>
          <a:noFill/>
          <a:ln>
            <a:noFill/>
          </a:ln>
        </p:spPr>
      </p:pic>
      <p:sp>
        <p:nvSpPr>
          <p:cNvPr id="49" name="Google Shape;49;p6"/>
          <p:cNvSpPr/>
          <p:nvPr/>
        </p:nvSpPr>
        <p:spPr>
          <a:xfrm>
            <a:off x="628650" y="-9525"/>
            <a:ext cx="8524800" cy="466800"/>
          </a:xfrm>
          <a:prstGeom prst="rect">
            <a:avLst/>
          </a:prstGeom>
          <a:solidFill>
            <a:srgbClr val="D00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000"/>
              <a:buNone/>
              <a:defRPr sz="2000">
                <a:solidFill>
                  <a:srgbClr val="FFFFFF"/>
                </a:solidFill>
              </a:defRPr>
            </a:lvl1pPr>
            <a:lvl2pPr lvl="1" rtl="0" algn="ctr">
              <a:spcBef>
                <a:spcPts val="0"/>
              </a:spcBef>
              <a:spcAft>
                <a:spcPts val="0"/>
              </a:spcAft>
              <a:buClr>
                <a:srgbClr val="FFFFFF"/>
              </a:buClr>
              <a:buSzPts val="2000"/>
              <a:buNone/>
              <a:defRPr sz="2000">
                <a:solidFill>
                  <a:srgbClr val="FFFFFF"/>
                </a:solidFill>
              </a:defRPr>
            </a:lvl2pPr>
            <a:lvl3pPr lvl="2" rtl="0" algn="ctr">
              <a:spcBef>
                <a:spcPts val="0"/>
              </a:spcBef>
              <a:spcAft>
                <a:spcPts val="0"/>
              </a:spcAft>
              <a:buClr>
                <a:srgbClr val="FFFFFF"/>
              </a:buClr>
              <a:buSzPts val="2000"/>
              <a:buNone/>
              <a:defRPr sz="2000">
                <a:solidFill>
                  <a:srgbClr val="FFFFFF"/>
                </a:solidFill>
              </a:defRPr>
            </a:lvl3pPr>
            <a:lvl4pPr lvl="3" rtl="0" algn="ctr">
              <a:spcBef>
                <a:spcPts val="0"/>
              </a:spcBef>
              <a:spcAft>
                <a:spcPts val="0"/>
              </a:spcAft>
              <a:buClr>
                <a:srgbClr val="FFFFFF"/>
              </a:buClr>
              <a:buSzPts val="2000"/>
              <a:buNone/>
              <a:defRPr sz="2000">
                <a:solidFill>
                  <a:srgbClr val="FFFFFF"/>
                </a:solidFill>
              </a:defRPr>
            </a:lvl4pPr>
            <a:lvl5pPr lvl="4" rtl="0" algn="ctr">
              <a:spcBef>
                <a:spcPts val="0"/>
              </a:spcBef>
              <a:spcAft>
                <a:spcPts val="0"/>
              </a:spcAft>
              <a:buClr>
                <a:srgbClr val="FFFFFF"/>
              </a:buClr>
              <a:buSzPts val="2000"/>
              <a:buNone/>
              <a:defRPr sz="2000">
                <a:solidFill>
                  <a:srgbClr val="FFFFFF"/>
                </a:solidFill>
              </a:defRPr>
            </a:lvl5pPr>
            <a:lvl6pPr lvl="5" rtl="0" algn="ctr">
              <a:spcBef>
                <a:spcPts val="0"/>
              </a:spcBef>
              <a:spcAft>
                <a:spcPts val="0"/>
              </a:spcAft>
              <a:buClr>
                <a:srgbClr val="FFFFFF"/>
              </a:buClr>
              <a:buSzPts val="2000"/>
              <a:buNone/>
              <a:defRPr sz="2000">
                <a:solidFill>
                  <a:srgbClr val="FFFFFF"/>
                </a:solidFill>
              </a:defRPr>
            </a:lvl6pPr>
            <a:lvl7pPr lvl="6" rtl="0" algn="ctr">
              <a:spcBef>
                <a:spcPts val="0"/>
              </a:spcBef>
              <a:spcAft>
                <a:spcPts val="0"/>
              </a:spcAft>
              <a:buClr>
                <a:srgbClr val="FFFFFF"/>
              </a:buClr>
              <a:buSzPts val="2000"/>
              <a:buNone/>
              <a:defRPr sz="2000">
                <a:solidFill>
                  <a:srgbClr val="FFFFFF"/>
                </a:solidFill>
              </a:defRPr>
            </a:lvl7pPr>
            <a:lvl8pPr lvl="7" rtl="0" algn="ctr">
              <a:spcBef>
                <a:spcPts val="0"/>
              </a:spcBef>
              <a:spcAft>
                <a:spcPts val="0"/>
              </a:spcAft>
              <a:buClr>
                <a:srgbClr val="FFFFFF"/>
              </a:buClr>
              <a:buSzPts val="2000"/>
              <a:buNone/>
              <a:defRPr sz="2000">
                <a:solidFill>
                  <a:srgbClr val="FFFFFF"/>
                </a:solidFill>
              </a:defRPr>
            </a:lvl8pPr>
            <a:lvl9pPr lvl="8" rtl="0" algn="ctr">
              <a:spcBef>
                <a:spcPts val="0"/>
              </a:spcBef>
              <a:spcAft>
                <a:spcPts val="0"/>
              </a:spcAft>
              <a:buClr>
                <a:srgbClr val="FFFFFF"/>
              </a:buClr>
              <a:buSzPts val="2000"/>
              <a:buNone/>
              <a:defRPr sz="2000">
                <a:solidFill>
                  <a:srgbClr val="FFFFFF"/>
                </a:solidFill>
              </a:defRPr>
            </a:lvl9pPr>
          </a:lstStyle>
          <a:p/>
        </p:txBody>
      </p:sp>
      <p:cxnSp>
        <p:nvCxnSpPr>
          <p:cNvPr id="51" name="Google Shape;51;p6"/>
          <p:cNvCxnSpPr/>
          <p:nvPr/>
        </p:nvCxnSpPr>
        <p:spPr>
          <a:xfrm>
            <a:off x="1559375" y="4834975"/>
            <a:ext cx="7184400" cy="24900"/>
          </a:xfrm>
          <a:prstGeom prst="straightConnector1">
            <a:avLst/>
          </a:prstGeom>
          <a:noFill/>
          <a:ln cap="flat" cmpd="sng" w="9525">
            <a:solidFill>
              <a:srgbClr val="ABAFBC"/>
            </a:solidFill>
            <a:prstDash val="solid"/>
            <a:round/>
            <a:headEnd len="med" w="med" type="none"/>
            <a:tailEnd len="med" w="med" type="none"/>
          </a:ln>
        </p:spPr>
      </p:cxnSp>
      <p:pic>
        <p:nvPicPr>
          <p:cNvPr id="52" name="Google Shape;52;p6"/>
          <p:cNvPicPr preferRelativeResize="0"/>
          <p:nvPr/>
        </p:nvPicPr>
        <p:blipFill>
          <a:blip r:embed="rId4">
            <a:alphaModFix/>
          </a:blip>
          <a:stretch>
            <a:fillRect/>
          </a:stretch>
        </p:blipFill>
        <p:spPr>
          <a:xfrm>
            <a:off x="353675" y="4739823"/>
            <a:ext cx="1049524" cy="1902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age - Featured Image (Left)">
  <p:cSld name="TITLE_AND_BODY_1_1">
    <p:bg>
      <p:bgPr>
        <a:gradFill>
          <a:gsLst>
            <a:gs pos="0">
              <a:srgbClr val="FFFFFF"/>
            </a:gs>
            <a:gs pos="58999">
              <a:srgbClr val="FFFFFF"/>
            </a:gs>
            <a:gs pos="100000">
              <a:srgbClr val="ABAFBC">
                <a:alpha val="26666"/>
              </a:srgbClr>
            </a:gs>
          </a:gsLst>
          <a:lin ang="5400012" scaled="0"/>
        </a:gradFill>
      </p:bgPr>
    </p:bg>
    <p:spTree>
      <p:nvGrpSpPr>
        <p:cNvPr id="53" name="Shape 53"/>
        <p:cNvGrpSpPr/>
        <p:nvPr/>
      </p:nvGrpSpPr>
      <p:grpSpPr>
        <a:xfrm>
          <a:off x="0" y="0"/>
          <a:ext cx="0" cy="0"/>
          <a:chOff x="0" y="0"/>
          <a:chExt cx="0" cy="0"/>
        </a:xfrm>
      </p:grpSpPr>
      <p:sp>
        <p:nvSpPr>
          <p:cNvPr id="54" name="Google Shape;5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7"/>
          <p:cNvSpPr txBox="1"/>
          <p:nvPr>
            <p:ph idx="1" type="subTitle"/>
          </p:nvPr>
        </p:nvSpPr>
        <p:spPr>
          <a:xfrm>
            <a:off x="3943025" y="1431675"/>
            <a:ext cx="49404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2A5C"/>
              </a:buClr>
              <a:buSzPts val="1400"/>
              <a:buNone/>
              <a:defRPr sz="1400">
                <a:solidFill>
                  <a:srgbClr val="002A5C"/>
                </a:solidFill>
              </a:defRPr>
            </a:lvl1pPr>
            <a:lvl2pPr lvl="1"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2pPr>
            <a:lvl3pPr lvl="2"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3pPr>
            <a:lvl4pPr lvl="3"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4pPr>
            <a:lvl5pPr lvl="4"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5pPr>
            <a:lvl6pPr lvl="5"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6pPr>
            <a:lvl7pPr lvl="6"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7pPr>
            <a:lvl8pPr lvl="7"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8pPr>
            <a:lvl9pPr lvl="8" rtl="0" algn="ctr">
              <a:lnSpc>
                <a:spcPct val="100000"/>
              </a:lnSpc>
              <a:spcBef>
                <a:spcPts val="0"/>
              </a:spcBef>
              <a:spcAft>
                <a:spcPts val="0"/>
              </a:spcAft>
              <a:buClr>
                <a:srgbClr val="002A5C"/>
              </a:buClr>
              <a:buSzPts val="1400"/>
              <a:buFont typeface="Open Sans"/>
              <a:buNone/>
              <a:defRPr>
                <a:solidFill>
                  <a:srgbClr val="002A5C"/>
                </a:solidFill>
                <a:latin typeface="Open Sans"/>
                <a:ea typeface="Open Sans"/>
                <a:cs typeface="Open Sans"/>
                <a:sym typeface="Open Sans"/>
              </a:defRPr>
            </a:lvl9pPr>
          </a:lstStyle>
          <a:p/>
        </p:txBody>
      </p:sp>
      <p:sp>
        <p:nvSpPr>
          <p:cNvPr id="56" name="Google Shape;56;p7"/>
          <p:cNvSpPr txBox="1"/>
          <p:nvPr>
            <p:ph idx="2" type="subTitle"/>
          </p:nvPr>
        </p:nvSpPr>
        <p:spPr>
          <a:xfrm>
            <a:off x="3956000" y="1755125"/>
            <a:ext cx="4940400" cy="4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798C97"/>
              </a:buClr>
              <a:buSzPts val="1000"/>
              <a:buNone/>
              <a:defRPr sz="1000">
                <a:solidFill>
                  <a:srgbClr val="798C97"/>
                </a:solidFill>
              </a:defRPr>
            </a:lvl1pPr>
            <a:lvl2pPr lvl="1"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2pPr>
            <a:lvl3pPr lvl="2"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3pPr>
            <a:lvl4pPr lvl="3"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4pPr>
            <a:lvl5pPr lvl="4"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5pPr>
            <a:lvl6pPr lvl="5"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6pPr>
            <a:lvl7pPr lvl="6"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7pPr>
            <a:lvl8pPr lvl="7"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8pPr>
            <a:lvl9pPr lvl="8" rtl="0" algn="ctr">
              <a:lnSpc>
                <a:spcPct val="100000"/>
              </a:lnSpc>
              <a:spcBef>
                <a:spcPts val="0"/>
              </a:spcBef>
              <a:spcAft>
                <a:spcPts val="0"/>
              </a:spcAft>
              <a:buClr>
                <a:srgbClr val="798C97"/>
              </a:buClr>
              <a:buSzPts val="1000"/>
              <a:buFont typeface="Open Sans"/>
              <a:buNone/>
              <a:defRPr sz="1000">
                <a:solidFill>
                  <a:srgbClr val="798C97"/>
                </a:solidFill>
                <a:latin typeface="Open Sans"/>
                <a:ea typeface="Open Sans"/>
                <a:cs typeface="Open Sans"/>
                <a:sym typeface="Open Sans"/>
              </a:defRPr>
            </a:lvl9pPr>
          </a:lstStyle>
          <a:p/>
        </p:txBody>
      </p:sp>
      <p:sp>
        <p:nvSpPr>
          <p:cNvPr id="57" name="Google Shape;57;p7"/>
          <p:cNvSpPr txBox="1"/>
          <p:nvPr>
            <p:ph idx="3" type="subTitle"/>
          </p:nvPr>
        </p:nvSpPr>
        <p:spPr>
          <a:xfrm>
            <a:off x="3943380" y="1019985"/>
            <a:ext cx="4940400" cy="4269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Clr>
                <a:srgbClr val="002A5C"/>
              </a:buClr>
              <a:buSzPts val="1800"/>
              <a:buFont typeface="Montserrat"/>
              <a:buNone/>
              <a:defRPr b="1">
                <a:solidFill>
                  <a:srgbClr val="002A5C"/>
                </a:solidFill>
                <a:latin typeface="Montserrat"/>
                <a:ea typeface="Montserrat"/>
                <a:cs typeface="Montserrat"/>
                <a:sym typeface="Montserrat"/>
              </a:defRPr>
            </a:lvl1pPr>
            <a:lvl2pPr lvl="1"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2pPr>
            <a:lvl3pPr lvl="2"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3pPr>
            <a:lvl4pPr lvl="3"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4pPr>
            <a:lvl5pPr lvl="4"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5pPr>
            <a:lvl6pPr lvl="5"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6pPr>
            <a:lvl7pPr lvl="6"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7pPr>
            <a:lvl8pPr lvl="7"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8pPr>
            <a:lvl9pPr lvl="8" rtl="0" algn="ctr">
              <a:lnSpc>
                <a:spcPct val="80000"/>
              </a:lnSpc>
              <a:spcBef>
                <a:spcPts val="0"/>
              </a:spcBef>
              <a:spcAft>
                <a:spcPts val="0"/>
              </a:spcAft>
              <a:buClr>
                <a:srgbClr val="002A5C"/>
              </a:buClr>
              <a:buSzPts val="1800"/>
              <a:buFont typeface="Montserrat"/>
              <a:buNone/>
              <a:defRPr b="1" sz="1800">
                <a:solidFill>
                  <a:srgbClr val="002A5C"/>
                </a:solidFill>
                <a:latin typeface="Montserrat"/>
                <a:ea typeface="Montserrat"/>
                <a:cs typeface="Montserrat"/>
                <a:sym typeface="Montserrat"/>
              </a:defRPr>
            </a:lvl9pPr>
          </a:lstStyle>
          <a:p/>
        </p:txBody>
      </p:sp>
      <p:pic>
        <p:nvPicPr>
          <p:cNvPr id="58" name="Google Shape;58;p7"/>
          <p:cNvPicPr preferRelativeResize="0"/>
          <p:nvPr/>
        </p:nvPicPr>
        <p:blipFill>
          <a:blip r:embed="rId2">
            <a:alphaModFix/>
          </a:blip>
          <a:stretch>
            <a:fillRect/>
          </a:stretch>
        </p:blipFill>
        <p:spPr>
          <a:xfrm>
            <a:off x="7791136" y="200298"/>
            <a:ext cx="1105213" cy="338401"/>
          </a:xfrm>
          <a:prstGeom prst="rect">
            <a:avLst/>
          </a:prstGeom>
          <a:noFill/>
          <a:ln>
            <a:noFill/>
          </a:ln>
        </p:spPr>
      </p:pic>
      <p:pic>
        <p:nvPicPr>
          <p:cNvPr id="59" name="Google Shape;59;p7"/>
          <p:cNvPicPr preferRelativeResize="0"/>
          <p:nvPr/>
        </p:nvPicPr>
        <p:blipFill>
          <a:blip r:embed="rId3">
            <a:alphaModFix/>
          </a:blip>
          <a:stretch>
            <a:fillRect/>
          </a:stretch>
        </p:blipFill>
        <p:spPr>
          <a:xfrm>
            <a:off x="371475" y="-9525"/>
            <a:ext cx="449425" cy="466725"/>
          </a:xfrm>
          <a:prstGeom prst="rect">
            <a:avLst/>
          </a:prstGeom>
          <a:noFill/>
          <a:ln>
            <a:noFill/>
          </a:ln>
        </p:spPr>
      </p:pic>
      <p:sp>
        <p:nvSpPr>
          <p:cNvPr id="60" name="Google Shape;60;p7"/>
          <p:cNvSpPr/>
          <p:nvPr/>
        </p:nvSpPr>
        <p:spPr>
          <a:xfrm>
            <a:off x="628650" y="-9525"/>
            <a:ext cx="8524800" cy="466800"/>
          </a:xfrm>
          <a:prstGeom prst="rect">
            <a:avLst/>
          </a:prstGeom>
          <a:solidFill>
            <a:srgbClr val="D00D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2000"/>
              <a:buNone/>
              <a:defRPr sz="2000">
                <a:solidFill>
                  <a:srgbClr val="FFFFFF"/>
                </a:solidFill>
              </a:defRPr>
            </a:lvl1pPr>
            <a:lvl2pPr lvl="1" rtl="0" algn="ctr">
              <a:spcBef>
                <a:spcPts val="0"/>
              </a:spcBef>
              <a:spcAft>
                <a:spcPts val="0"/>
              </a:spcAft>
              <a:buClr>
                <a:srgbClr val="FFFFFF"/>
              </a:buClr>
              <a:buSzPts val="2000"/>
              <a:buNone/>
              <a:defRPr sz="2000">
                <a:solidFill>
                  <a:srgbClr val="FFFFFF"/>
                </a:solidFill>
              </a:defRPr>
            </a:lvl2pPr>
            <a:lvl3pPr lvl="2" rtl="0" algn="ctr">
              <a:spcBef>
                <a:spcPts val="0"/>
              </a:spcBef>
              <a:spcAft>
                <a:spcPts val="0"/>
              </a:spcAft>
              <a:buClr>
                <a:srgbClr val="FFFFFF"/>
              </a:buClr>
              <a:buSzPts val="2000"/>
              <a:buNone/>
              <a:defRPr sz="2000">
                <a:solidFill>
                  <a:srgbClr val="FFFFFF"/>
                </a:solidFill>
              </a:defRPr>
            </a:lvl3pPr>
            <a:lvl4pPr lvl="3" rtl="0" algn="ctr">
              <a:spcBef>
                <a:spcPts val="0"/>
              </a:spcBef>
              <a:spcAft>
                <a:spcPts val="0"/>
              </a:spcAft>
              <a:buClr>
                <a:srgbClr val="FFFFFF"/>
              </a:buClr>
              <a:buSzPts val="2000"/>
              <a:buNone/>
              <a:defRPr sz="2000">
                <a:solidFill>
                  <a:srgbClr val="FFFFFF"/>
                </a:solidFill>
              </a:defRPr>
            </a:lvl4pPr>
            <a:lvl5pPr lvl="4" rtl="0" algn="ctr">
              <a:spcBef>
                <a:spcPts val="0"/>
              </a:spcBef>
              <a:spcAft>
                <a:spcPts val="0"/>
              </a:spcAft>
              <a:buClr>
                <a:srgbClr val="FFFFFF"/>
              </a:buClr>
              <a:buSzPts val="2000"/>
              <a:buNone/>
              <a:defRPr sz="2000">
                <a:solidFill>
                  <a:srgbClr val="FFFFFF"/>
                </a:solidFill>
              </a:defRPr>
            </a:lvl5pPr>
            <a:lvl6pPr lvl="5" rtl="0" algn="ctr">
              <a:spcBef>
                <a:spcPts val="0"/>
              </a:spcBef>
              <a:spcAft>
                <a:spcPts val="0"/>
              </a:spcAft>
              <a:buClr>
                <a:srgbClr val="FFFFFF"/>
              </a:buClr>
              <a:buSzPts val="2000"/>
              <a:buNone/>
              <a:defRPr sz="2000">
                <a:solidFill>
                  <a:srgbClr val="FFFFFF"/>
                </a:solidFill>
              </a:defRPr>
            </a:lvl6pPr>
            <a:lvl7pPr lvl="6" rtl="0" algn="ctr">
              <a:spcBef>
                <a:spcPts val="0"/>
              </a:spcBef>
              <a:spcAft>
                <a:spcPts val="0"/>
              </a:spcAft>
              <a:buClr>
                <a:srgbClr val="FFFFFF"/>
              </a:buClr>
              <a:buSzPts val="2000"/>
              <a:buNone/>
              <a:defRPr sz="2000">
                <a:solidFill>
                  <a:srgbClr val="FFFFFF"/>
                </a:solidFill>
              </a:defRPr>
            </a:lvl7pPr>
            <a:lvl8pPr lvl="7" rtl="0" algn="ctr">
              <a:spcBef>
                <a:spcPts val="0"/>
              </a:spcBef>
              <a:spcAft>
                <a:spcPts val="0"/>
              </a:spcAft>
              <a:buClr>
                <a:srgbClr val="FFFFFF"/>
              </a:buClr>
              <a:buSzPts val="2000"/>
              <a:buNone/>
              <a:defRPr sz="2000">
                <a:solidFill>
                  <a:srgbClr val="FFFFFF"/>
                </a:solidFill>
              </a:defRPr>
            </a:lvl8pPr>
            <a:lvl9pPr lvl="8" rtl="0" algn="ctr">
              <a:spcBef>
                <a:spcPts val="0"/>
              </a:spcBef>
              <a:spcAft>
                <a:spcPts val="0"/>
              </a:spcAft>
              <a:buClr>
                <a:srgbClr val="FFFFFF"/>
              </a:buClr>
              <a:buSzPts val="2000"/>
              <a:buNone/>
              <a:defRPr sz="2000">
                <a:solidFill>
                  <a:srgbClr val="FFFFFF"/>
                </a:solidFill>
              </a:defRPr>
            </a:lvl9pPr>
          </a:lstStyle>
          <a:p/>
        </p:txBody>
      </p:sp>
      <p:cxnSp>
        <p:nvCxnSpPr>
          <p:cNvPr id="62" name="Google Shape;62;p7"/>
          <p:cNvCxnSpPr>
            <a:stCxn id="63" idx="3"/>
          </p:cNvCxnSpPr>
          <p:nvPr/>
        </p:nvCxnSpPr>
        <p:spPr>
          <a:xfrm flipH="1" rot="10800000">
            <a:off x="1403199" y="4859916"/>
            <a:ext cx="7340700" cy="2700"/>
          </a:xfrm>
          <a:prstGeom prst="straightConnector1">
            <a:avLst/>
          </a:prstGeom>
          <a:noFill/>
          <a:ln cap="flat" cmpd="sng" w="9525">
            <a:solidFill>
              <a:srgbClr val="ABAFBC"/>
            </a:solidFill>
            <a:prstDash val="solid"/>
            <a:round/>
            <a:headEnd len="med" w="med" type="none"/>
            <a:tailEnd len="med" w="med" type="none"/>
          </a:ln>
        </p:spPr>
      </p:cxnSp>
      <p:pic>
        <p:nvPicPr>
          <p:cNvPr id="63" name="Google Shape;63;p7"/>
          <p:cNvPicPr preferRelativeResize="0"/>
          <p:nvPr/>
        </p:nvPicPr>
        <p:blipFill>
          <a:blip r:embed="rId4">
            <a:alphaModFix/>
          </a:blip>
          <a:stretch>
            <a:fillRect/>
          </a:stretch>
        </p:blipFill>
        <p:spPr>
          <a:xfrm>
            <a:off x="353675" y="4767504"/>
            <a:ext cx="1049524" cy="1902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Closing" type="blank">
  <p:cSld name="BLANK">
    <p:bg>
      <p:bgPr>
        <a:gradFill>
          <a:gsLst>
            <a:gs pos="0">
              <a:srgbClr val="FFFFFF"/>
            </a:gs>
            <a:gs pos="58999">
              <a:srgbClr val="FFFFFF"/>
            </a:gs>
            <a:gs pos="100000">
              <a:srgbClr val="ABAFBC"/>
            </a:gs>
          </a:gsLst>
          <a:lin ang="5400012" scaled="0"/>
        </a:gradFill>
      </p:bgPr>
    </p:bg>
    <p:spTree>
      <p:nvGrpSpPr>
        <p:cNvPr id="64" name="Shape 64"/>
        <p:cNvGrpSpPr/>
        <p:nvPr/>
      </p:nvGrpSpPr>
      <p:grpSpPr>
        <a:xfrm>
          <a:off x="0" y="0"/>
          <a:ext cx="0" cy="0"/>
          <a:chOff x="0" y="0"/>
          <a:chExt cx="0" cy="0"/>
        </a:xfrm>
      </p:grpSpPr>
      <p:pic>
        <p:nvPicPr>
          <p:cNvPr id="65" name="Google Shape;65;p8"/>
          <p:cNvPicPr preferRelativeResize="0"/>
          <p:nvPr/>
        </p:nvPicPr>
        <p:blipFill>
          <a:blip r:embed="rId2">
            <a:alphaModFix/>
          </a:blip>
          <a:stretch>
            <a:fillRect/>
          </a:stretch>
        </p:blipFill>
        <p:spPr>
          <a:xfrm>
            <a:off x="5063647" y="0"/>
            <a:ext cx="4080356" cy="5143499"/>
          </a:xfrm>
          <a:prstGeom prst="rect">
            <a:avLst/>
          </a:prstGeom>
          <a:noFill/>
          <a:ln>
            <a:noFill/>
          </a:ln>
        </p:spPr>
      </p:pic>
      <p:pic>
        <p:nvPicPr>
          <p:cNvPr id="66" name="Google Shape;66;p8"/>
          <p:cNvPicPr preferRelativeResize="0"/>
          <p:nvPr/>
        </p:nvPicPr>
        <p:blipFill>
          <a:blip r:embed="rId3">
            <a:alphaModFix/>
          </a:blip>
          <a:stretch>
            <a:fillRect/>
          </a:stretch>
        </p:blipFill>
        <p:spPr>
          <a:xfrm>
            <a:off x="3507025" y="0"/>
            <a:ext cx="5408380" cy="5143500"/>
          </a:xfrm>
          <a:prstGeom prst="rect">
            <a:avLst/>
          </a:prstGeom>
          <a:noFill/>
          <a:ln>
            <a:noFill/>
          </a:ln>
        </p:spPr>
      </p:pic>
      <p:sp>
        <p:nvSpPr>
          <p:cNvPr id="67" name="Google Shape;67;p8"/>
          <p:cNvSpPr txBox="1"/>
          <p:nvPr/>
        </p:nvSpPr>
        <p:spPr>
          <a:xfrm>
            <a:off x="381000" y="4714800"/>
            <a:ext cx="3445800" cy="2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002E6D"/>
                </a:solidFill>
                <a:latin typeface="Montserrat"/>
                <a:ea typeface="Montserrat"/>
                <a:cs typeface="Montserrat"/>
                <a:sym typeface="Montserrat"/>
              </a:rPr>
              <a:t>www.alc.alueducation.com</a:t>
            </a:r>
            <a:endParaRPr sz="1000">
              <a:solidFill>
                <a:srgbClr val="002E6D"/>
              </a:solidFill>
              <a:latin typeface="Montserrat"/>
              <a:ea typeface="Montserrat"/>
              <a:cs typeface="Montserrat"/>
              <a:sym typeface="Montserrat"/>
            </a:endParaRPr>
          </a:p>
        </p:txBody>
      </p:sp>
      <p:cxnSp>
        <p:nvCxnSpPr>
          <p:cNvPr id="68" name="Google Shape;68;p8"/>
          <p:cNvCxnSpPr/>
          <p:nvPr/>
        </p:nvCxnSpPr>
        <p:spPr>
          <a:xfrm>
            <a:off x="1873100" y="4876800"/>
            <a:ext cx="3041700" cy="0"/>
          </a:xfrm>
          <a:prstGeom prst="straightConnector1">
            <a:avLst/>
          </a:prstGeom>
          <a:noFill/>
          <a:ln cap="flat" cmpd="sng" w="9525">
            <a:solidFill>
              <a:srgbClr val="75859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1pPr>
            <a:lvl2pPr lvl="1">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2pPr>
            <a:lvl3pPr lvl="2">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3pPr>
            <a:lvl4pPr lvl="3">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4pPr>
            <a:lvl5pPr lvl="4">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5pPr>
            <a:lvl6pPr lvl="5">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6pPr>
            <a:lvl7pPr lvl="6">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7pPr>
            <a:lvl8pPr lvl="7">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8pPr>
            <a:lvl9pPr lvl="8">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hyperlink" Target="mailto:g.adekunle@alustudent.com" TargetMode="External"/><Relationship Id="rId5" Type="http://schemas.openxmlformats.org/officeDocument/2006/relationships/hyperlink" Target="mailto:gadeku200@ac.caledonian.u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9"/>
          <p:cNvPicPr preferRelativeResize="0"/>
          <p:nvPr/>
        </p:nvPicPr>
        <p:blipFill rotWithShape="1">
          <a:blip r:embed="rId3">
            <a:alphaModFix/>
          </a:blip>
          <a:srcRect b="0" l="-45054" r="7104" t="0"/>
          <a:stretch/>
        </p:blipFill>
        <p:spPr>
          <a:xfrm>
            <a:off x="2721925" y="0"/>
            <a:ext cx="6422074" cy="5143500"/>
          </a:xfrm>
          <a:prstGeom prst="rect">
            <a:avLst/>
          </a:prstGeom>
          <a:noFill/>
          <a:ln>
            <a:noFill/>
          </a:ln>
        </p:spPr>
      </p:pic>
      <p:grpSp>
        <p:nvGrpSpPr>
          <p:cNvPr id="74" name="Google Shape;74;p9"/>
          <p:cNvGrpSpPr/>
          <p:nvPr/>
        </p:nvGrpSpPr>
        <p:grpSpPr>
          <a:xfrm>
            <a:off x="0" y="0"/>
            <a:ext cx="7858409" cy="5143497"/>
            <a:chOff x="0" y="0"/>
            <a:chExt cx="7858409" cy="5143497"/>
          </a:xfrm>
        </p:grpSpPr>
        <p:grpSp>
          <p:nvGrpSpPr>
            <p:cNvPr id="75" name="Google Shape;75;p9"/>
            <p:cNvGrpSpPr/>
            <p:nvPr/>
          </p:nvGrpSpPr>
          <p:grpSpPr>
            <a:xfrm>
              <a:off x="0" y="0"/>
              <a:ext cx="7858409" cy="5143497"/>
              <a:chOff x="0" y="0"/>
              <a:chExt cx="7858409" cy="5143497"/>
            </a:xfrm>
          </p:grpSpPr>
          <p:grpSp>
            <p:nvGrpSpPr>
              <p:cNvPr id="76" name="Google Shape;76;p9"/>
              <p:cNvGrpSpPr/>
              <p:nvPr/>
            </p:nvGrpSpPr>
            <p:grpSpPr>
              <a:xfrm>
                <a:off x="0" y="4800"/>
                <a:ext cx="6367500" cy="5133900"/>
                <a:chOff x="0" y="4800"/>
                <a:chExt cx="6367500" cy="5133900"/>
              </a:xfrm>
            </p:grpSpPr>
            <p:sp>
              <p:nvSpPr>
                <p:cNvPr id="77" name="Google Shape;77;p9"/>
                <p:cNvSpPr/>
                <p:nvPr/>
              </p:nvSpPr>
              <p:spPr>
                <a:xfrm>
                  <a:off x="0" y="4800"/>
                  <a:ext cx="4657800" cy="5133900"/>
                </a:xfrm>
                <a:prstGeom prst="rect">
                  <a:avLst/>
                </a:prstGeom>
                <a:solidFill>
                  <a:srgbClr val="002E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rot="5400000">
                  <a:off x="2759850" y="1531050"/>
                  <a:ext cx="5133900" cy="2081400"/>
                </a:xfrm>
                <a:prstGeom prst="rtTriangle">
                  <a:avLst/>
                </a:prstGeom>
                <a:solidFill>
                  <a:srgbClr val="002E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9" name="Google Shape;79;p9"/>
              <p:cNvPicPr preferRelativeResize="0"/>
              <p:nvPr/>
            </p:nvPicPr>
            <p:blipFill>
              <a:blip r:embed="rId4">
                <a:alphaModFix/>
              </a:blip>
              <a:stretch>
                <a:fillRect/>
              </a:stretch>
            </p:blipFill>
            <p:spPr>
              <a:xfrm>
                <a:off x="1285587" y="0"/>
                <a:ext cx="6572822" cy="5143497"/>
              </a:xfrm>
              <a:prstGeom prst="rect">
                <a:avLst/>
              </a:prstGeom>
              <a:noFill/>
              <a:ln>
                <a:noFill/>
              </a:ln>
            </p:spPr>
          </p:pic>
        </p:grpSp>
        <p:sp>
          <p:nvSpPr>
            <p:cNvPr id="80" name="Google Shape;80;p9"/>
            <p:cNvSpPr txBox="1"/>
            <p:nvPr/>
          </p:nvSpPr>
          <p:spPr>
            <a:xfrm>
              <a:off x="381000" y="4714800"/>
              <a:ext cx="3445800" cy="2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EEEEEE"/>
                  </a:solidFill>
                  <a:latin typeface="Montserrat"/>
                  <a:ea typeface="Montserrat"/>
                  <a:cs typeface="Montserrat"/>
                  <a:sym typeface="Montserrat"/>
                </a:rPr>
                <a:t>www.alc.alueducation.com</a:t>
              </a:r>
              <a:endParaRPr sz="1000">
                <a:solidFill>
                  <a:srgbClr val="EEEEEE"/>
                </a:solidFill>
                <a:latin typeface="Montserrat"/>
                <a:ea typeface="Montserrat"/>
                <a:cs typeface="Montserrat"/>
                <a:sym typeface="Montserrat"/>
              </a:endParaRPr>
            </a:p>
          </p:txBody>
        </p:sp>
        <p:cxnSp>
          <p:nvCxnSpPr>
            <p:cNvPr id="81" name="Google Shape;81;p9"/>
            <p:cNvCxnSpPr/>
            <p:nvPr/>
          </p:nvCxnSpPr>
          <p:spPr>
            <a:xfrm>
              <a:off x="1923375" y="4876800"/>
              <a:ext cx="2477100" cy="0"/>
            </a:xfrm>
            <a:prstGeom prst="straightConnector1">
              <a:avLst/>
            </a:prstGeom>
            <a:noFill/>
            <a:ln cap="flat" cmpd="sng" w="9525">
              <a:solidFill>
                <a:srgbClr val="758592"/>
              </a:solidFill>
              <a:prstDash val="solid"/>
              <a:round/>
              <a:headEnd len="med" w="med" type="none"/>
              <a:tailEnd len="med" w="med" type="none"/>
            </a:ln>
          </p:spPr>
        </p:cxnSp>
      </p:grpSp>
      <p:sp>
        <p:nvSpPr>
          <p:cNvPr id="82" name="Google Shape;82;p9"/>
          <p:cNvSpPr txBox="1"/>
          <p:nvPr/>
        </p:nvSpPr>
        <p:spPr>
          <a:xfrm>
            <a:off x="323825" y="1238675"/>
            <a:ext cx="4713900" cy="17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FFFFFF"/>
                </a:solidFill>
                <a:latin typeface="Montserrat"/>
                <a:ea typeface="Montserrat"/>
                <a:cs typeface="Montserrat"/>
                <a:sym typeface="Montserrat"/>
              </a:rPr>
              <a:t>Support Vector Machine And Neural Network Models To Predict Severity And Causative Factors of Accident In Nigeria</a:t>
            </a:r>
            <a:endParaRPr b="1" sz="2000">
              <a:solidFill>
                <a:srgbClr val="FFFFFF"/>
              </a:solidFill>
              <a:latin typeface="Montserrat"/>
              <a:ea typeface="Montserrat"/>
              <a:cs typeface="Montserrat"/>
              <a:sym typeface="Montserrat"/>
            </a:endParaRPr>
          </a:p>
        </p:txBody>
      </p:sp>
      <p:sp>
        <p:nvSpPr>
          <p:cNvPr id="83" name="Google Shape;83;p9"/>
          <p:cNvSpPr txBox="1"/>
          <p:nvPr/>
        </p:nvSpPr>
        <p:spPr>
          <a:xfrm>
            <a:off x="323827" y="2970879"/>
            <a:ext cx="34458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EEEEEE"/>
                </a:solidFill>
                <a:latin typeface="Montserrat"/>
                <a:ea typeface="Montserrat"/>
                <a:cs typeface="Montserrat"/>
                <a:sym typeface="Montserrat"/>
              </a:rPr>
              <a:t>Construction and tuning of SVM and NN models for prediction and classification</a:t>
            </a:r>
            <a:endParaRPr i="1" sz="200">
              <a:solidFill>
                <a:srgbClr val="EEEEEE"/>
              </a:solidFill>
              <a:latin typeface="Montserrat"/>
              <a:ea typeface="Montserrat"/>
              <a:cs typeface="Montserrat"/>
              <a:sym typeface="Montserrat"/>
            </a:endParaRPr>
          </a:p>
          <a:p>
            <a:pPr indent="0" lvl="0" marL="0" rtl="0" algn="l">
              <a:spcBef>
                <a:spcPts val="0"/>
              </a:spcBef>
              <a:spcAft>
                <a:spcPts val="0"/>
              </a:spcAft>
              <a:buNone/>
            </a:pPr>
            <a:r>
              <a:t/>
            </a:r>
            <a:endParaRPr i="1" sz="400">
              <a:solidFill>
                <a:srgbClr val="EEEEEE"/>
              </a:solidFill>
              <a:latin typeface="Montserrat"/>
              <a:ea typeface="Montserrat"/>
              <a:cs typeface="Montserrat"/>
              <a:sym typeface="Montserrat"/>
            </a:endParaRPr>
          </a:p>
        </p:txBody>
      </p:sp>
      <p:sp>
        <p:nvSpPr>
          <p:cNvPr id="84" name="Google Shape;84;p9"/>
          <p:cNvSpPr txBox="1"/>
          <p:nvPr/>
        </p:nvSpPr>
        <p:spPr>
          <a:xfrm>
            <a:off x="418800" y="3519700"/>
            <a:ext cx="3445800" cy="2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rgbClr val="EEEEEE"/>
                </a:solidFill>
                <a:latin typeface="Montserrat"/>
                <a:ea typeface="Montserrat"/>
                <a:cs typeface="Montserrat"/>
                <a:sym typeface="Montserrat"/>
              </a:rPr>
              <a:t>11th December, 2023</a:t>
            </a:r>
            <a:endParaRPr i="1" sz="1000">
              <a:solidFill>
                <a:srgbClr val="EEEEEE"/>
              </a:solidFill>
              <a:latin typeface="Montserrat"/>
              <a:ea typeface="Montserrat"/>
              <a:cs typeface="Montserrat"/>
              <a:sym typeface="Montserrat"/>
            </a:endParaRPr>
          </a:p>
          <a:p>
            <a:pPr indent="0" lvl="0" marL="0" rtl="0" algn="l">
              <a:spcBef>
                <a:spcPts val="0"/>
              </a:spcBef>
              <a:spcAft>
                <a:spcPts val="0"/>
              </a:spcAft>
              <a:buNone/>
            </a:pPr>
            <a:r>
              <a:t/>
            </a:r>
            <a:endParaRPr i="1" sz="1200">
              <a:solidFill>
                <a:srgbClr val="EEEEEE"/>
              </a:solidFill>
              <a:latin typeface="Montserrat"/>
              <a:ea typeface="Montserrat"/>
              <a:cs typeface="Montserrat"/>
              <a:sym typeface="Montserrat"/>
            </a:endParaRPr>
          </a:p>
        </p:txBody>
      </p:sp>
      <p:pic>
        <p:nvPicPr>
          <p:cNvPr id="85" name="Google Shape;85;p9"/>
          <p:cNvPicPr preferRelativeResize="0"/>
          <p:nvPr/>
        </p:nvPicPr>
        <p:blipFill>
          <a:blip r:embed="rId5">
            <a:alphaModFix/>
          </a:blip>
          <a:stretch>
            <a:fillRect/>
          </a:stretch>
        </p:blipFill>
        <p:spPr>
          <a:xfrm>
            <a:off x="208150" y="243773"/>
            <a:ext cx="933650" cy="16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0"/>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AUTHOR</a:t>
            </a:r>
            <a:endParaRPr/>
          </a:p>
        </p:txBody>
      </p:sp>
      <p:pic>
        <p:nvPicPr>
          <p:cNvPr id="91" name="Google Shape;91;p10"/>
          <p:cNvPicPr preferRelativeResize="0"/>
          <p:nvPr/>
        </p:nvPicPr>
        <p:blipFill rotWithShape="1">
          <a:blip r:embed="rId3">
            <a:alphaModFix/>
          </a:blip>
          <a:srcRect b="22465" l="0" r="0" t="8895"/>
          <a:stretch/>
        </p:blipFill>
        <p:spPr>
          <a:xfrm>
            <a:off x="1069600" y="1066800"/>
            <a:ext cx="3218700" cy="3314700"/>
          </a:xfrm>
          <a:prstGeom prst="roundRect">
            <a:avLst>
              <a:gd fmla="val 1713" name="adj"/>
            </a:avLst>
          </a:prstGeom>
          <a:noFill/>
          <a:ln>
            <a:noFill/>
          </a:ln>
        </p:spPr>
      </p:pic>
      <p:grpSp>
        <p:nvGrpSpPr>
          <p:cNvPr id="92" name="Google Shape;92;p10"/>
          <p:cNvGrpSpPr/>
          <p:nvPr/>
        </p:nvGrpSpPr>
        <p:grpSpPr>
          <a:xfrm>
            <a:off x="4600565" y="2856559"/>
            <a:ext cx="3783372" cy="1527535"/>
            <a:chOff x="-26" y="-26"/>
            <a:chExt cx="10088991" cy="4073426"/>
          </a:xfrm>
        </p:grpSpPr>
        <p:sp>
          <p:nvSpPr>
            <p:cNvPr id="93" name="Google Shape;93;p10"/>
            <p:cNvSpPr/>
            <p:nvPr/>
          </p:nvSpPr>
          <p:spPr>
            <a:xfrm>
              <a:off x="1045765" y="0"/>
              <a:ext cx="9043200" cy="4073400"/>
            </a:xfrm>
            <a:prstGeom prst="roundRect">
              <a:avLst>
                <a:gd fmla="val 5346" name="adj"/>
              </a:avLst>
            </a:prstGeom>
            <a:solidFill>
              <a:srgbClr val="798C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94" name="Google Shape;94;p10"/>
            <p:cNvSpPr/>
            <p:nvPr/>
          </p:nvSpPr>
          <p:spPr>
            <a:xfrm rot="10800000">
              <a:off x="-26" y="-26"/>
              <a:ext cx="1270026" cy="1270026"/>
            </a:xfrm>
            <a:custGeom>
              <a:rect b="b" l="l" r="r" t="t"/>
              <a:pathLst>
                <a:path extrusionOk="0" h="21600" w="21600">
                  <a:moveTo>
                    <a:pt x="0" y="0"/>
                  </a:moveTo>
                  <a:lnTo>
                    <a:pt x="0" y="21600"/>
                  </a:lnTo>
                  <a:lnTo>
                    <a:pt x="21600" y="21600"/>
                  </a:lnTo>
                  <a:close/>
                </a:path>
              </a:pathLst>
            </a:custGeom>
            <a:solidFill>
              <a:srgbClr val="798C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grpSp>
      <p:sp>
        <p:nvSpPr>
          <p:cNvPr id="95" name="Google Shape;95;p10"/>
          <p:cNvSpPr txBox="1"/>
          <p:nvPr/>
        </p:nvSpPr>
        <p:spPr>
          <a:xfrm>
            <a:off x="4993712" y="977243"/>
            <a:ext cx="3417000" cy="933600"/>
          </a:xfrm>
          <a:prstGeom prst="rect">
            <a:avLst/>
          </a:prstGeom>
          <a:noFill/>
          <a:ln>
            <a:noFill/>
          </a:ln>
        </p:spPr>
        <p:txBody>
          <a:bodyPr anchorCtr="0" anchor="ctr" bIns="19050" lIns="19050" spcFirstLastPara="1" rIns="19050" wrap="square" tIns="19050">
            <a:noAutofit/>
          </a:bodyPr>
          <a:lstStyle/>
          <a:p>
            <a:pPr indent="0" lvl="0" marL="0" marR="0" rtl="0" algn="l">
              <a:lnSpc>
                <a:spcPct val="80000"/>
              </a:lnSpc>
              <a:spcBef>
                <a:spcPts val="0"/>
              </a:spcBef>
              <a:spcAft>
                <a:spcPts val="0"/>
              </a:spcAft>
              <a:buClr>
                <a:srgbClr val="31333D"/>
              </a:buClr>
              <a:buSzPts val="3000"/>
              <a:buFont typeface="Maven Pro Medium"/>
              <a:buNone/>
            </a:pPr>
            <a:r>
              <a:rPr b="1" lang="en" sz="3000">
                <a:solidFill>
                  <a:srgbClr val="31333D"/>
                </a:solidFill>
                <a:latin typeface="Montserrat"/>
                <a:ea typeface="Montserrat"/>
                <a:cs typeface="Montserrat"/>
                <a:sym typeface="Montserrat"/>
              </a:rPr>
              <a:t>Ganiyat</a:t>
            </a:r>
            <a:endParaRPr b="1" i="0" sz="500" u="none" cap="none" strike="noStrike">
              <a:solidFill>
                <a:srgbClr val="000000"/>
              </a:solidFill>
              <a:latin typeface="Montserrat"/>
              <a:ea typeface="Montserrat"/>
              <a:cs typeface="Montserrat"/>
              <a:sym typeface="Montserrat"/>
            </a:endParaRPr>
          </a:p>
          <a:p>
            <a:pPr indent="0" lvl="0" marL="0" marR="0" rtl="0" algn="l">
              <a:lnSpc>
                <a:spcPct val="80000"/>
              </a:lnSpc>
              <a:spcBef>
                <a:spcPts val="0"/>
              </a:spcBef>
              <a:spcAft>
                <a:spcPts val="0"/>
              </a:spcAft>
              <a:buClr>
                <a:srgbClr val="31333D"/>
              </a:buClr>
              <a:buSzPts val="3000"/>
              <a:buFont typeface="Maven Pro Medium"/>
              <a:buNone/>
            </a:pPr>
            <a:r>
              <a:rPr b="1" lang="en" sz="3000">
                <a:solidFill>
                  <a:srgbClr val="31333D"/>
                </a:solidFill>
                <a:latin typeface="Montserrat"/>
                <a:ea typeface="Montserrat"/>
                <a:cs typeface="Montserrat"/>
                <a:sym typeface="Montserrat"/>
              </a:rPr>
              <a:t>Adekunle</a:t>
            </a:r>
            <a:endParaRPr b="1" i="0" sz="500" u="none" cap="none" strike="noStrike">
              <a:solidFill>
                <a:srgbClr val="000000"/>
              </a:solidFill>
              <a:latin typeface="Montserrat"/>
              <a:ea typeface="Montserrat"/>
              <a:cs typeface="Montserrat"/>
              <a:sym typeface="Montserrat"/>
            </a:endParaRPr>
          </a:p>
        </p:txBody>
      </p:sp>
      <p:sp>
        <p:nvSpPr>
          <p:cNvPr id="96" name="Google Shape;96;p10"/>
          <p:cNvSpPr/>
          <p:nvPr/>
        </p:nvSpPr>
        <p:spPr>
          <a:xfrm>
            <a:off x="5024388" y="2371839"/>
            <a:ext cx="591317" cy="210276"/>
          </a:xfrm>
          <a:custGeom>
            <a:rect b="b" l="l" r="r" t="t"/>
            <a:pathLst>
              <a:path extrusionOk="0" h="21310" w="2138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97" name="Google Shape;97;p10"/>
          <p:cNvSpPr txBox="1"/>
          <p:nvPr/>
        </p:nvSpPr>
        <p:spPr>
          <a:xfrm>
            <a:off x="5205625" y="3113625"/>
            <a:ext cx="3012300" cy="10326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FFFFFF"/>
                </a:solidFill>
                <a:latin typeface="Open Sans"/>
                <a:ea typeface="Open Sans"/>
                <a:cs typeface="Open Sans"/>
                <a:sym typeface="Open Sans"/>
              </a:rPr>
              <a:t>Student Number:</a:t>
            </a:r>
            <a:r>
              <a:rPr lang="en" sz="1200">
                <a:solidFill>
                  <a:schemeClr val="dk1"/>
                </a:solidFill>
                <a:latin typeface="Times New Roman"/>
                <a:ea typeface="Times New Roman"/>
                <a:cs typeface="Times New Roman"/>
                <a:sym typeface="Times New Roman"/>
              </a:rPr>
              <a:t>  </a:t>
            </a:r>
            <a:r>
              <a:rPr lang="en" sz="1200">
                <a:solidFill>
                  <a:schemeClr val="lt1"/>
                </a:solidFill>
                <a:latin typeface="Times New Roman"/>
                <a:ea typeface="Times New Roman"/>
                <a:cs typeface="Times New Roman"/>
                <a:sym typeface="Times New Roman"/>
              </a:rPr>
              <a:t>S2110996</a:t>
            </a:r>
            <a:endParaRPr sz="1200">
              <a:solidFill>
                <a:schemeClr val="lt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646979"/>
              </a:buClr>
              <a:buSzPts val="1000"/>
              <a:buFont typeface="Open Sans"/>
              <a:buNone/>
            </a:pPr>
            <a:r>
              <a:rPr lang="en" sz="1200">
                <a:solidFill>
                  <a:schemeClr val="lt1"/>
                </a:solidFill>
                <a:latin typeface="Times New Roman"/>
                <a:ea typeface="Times New Roman"/>
                <a:cs typeface="Times New Roman"/>
                <a:sym typeface="Times New Roman"/>
              </a:rPr>
              <a:t>Email:</a:t>
            </a:r>
            <a:r>
              <a:rPr lang="en" sz="1200" u="sng">
                <a:solidFill>
                  <a:schemeClr val="lt1"/>
                </a:solidFill>
                <a:latin typeface="Times New Roman"/>
                <a:ea typeface="Times New Roman"/>
                <a:cs typeface="Times New Roman"/>
                <a:sym typeface="Times New Roman"/>
                <a:hlinkClick r:id="rId4">
                  <a:extLst>
                    <a:ext uri="{A12FA001-AC4F-418D-AE19-62706E023703}">
                      <ahyp:hlinkClr val="tx"/>
                    </a:ext>
                  </a:extLst>
                </a:hlinkClick>
              </a:rPr>
              <a:t>g.adekunle@alustudent.com</a:t>
            </a:r>
            <a:endParaRPr sz="1200">
              <a:solidFill>
                <a:schemeClr val="lt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646979"/>
              </a:buClr>
              <a:buSzPts val="1000"/>
              <a:buFont typeface="Open Sans"/>
              <a:buNone/>
            </a:pPr>
            <a:r>
              <a:rPr lang="en" sz="1200">
                <a:solidFill>
                  <a:schemeClr val="lt1"/>
                </a:solidFill>
                <a:latin typeface="Times New Roman"/>
                <a:ea typeface="Times New Roman"/>
                <a:cs typeface="Times New Roman"/>
                <a:sym typeface="Times New Roman"/>
              </a:rPr>
              <a:t>	</a:t>
            </a:r>
            <a:r>
              <a:rPr lang="en" sz="1200" u="sng">
                <a:solidFill>
                  <a:schemeClr val="lt1"/>
                </a:solidFill>
                <a:latin typeface="Times New Roman"/>
                <a:ea typeface="Times New Roman"/>
                <a:cs typeface="Times New Roman"/>
                <a:sym typeface="Times New Roman"/>
                <a:hlinkClick r:id="rId5">
                  <a:extLst>
                    <a:ext uri="{A12FA001-AC4F-418D-AE19-62706E023703}">
                      <ahyp:hlinkClr val="tx"/>
                    </a:ext>
                  </a:extLst>
                </a:hlinkClick>
              </a:rPr>
              <a:t>gadeku200@ac.caledonian.uk</a:t>
            </a:r>
            <a:endParaRPr sz="1200">
              <a:solidFill>
                <a:schemeClr val="lt1"/>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646979"/>
              </a:buClr>
              <a:buSzPts val="1000"/>
              <a:buFont typeface="Open Sans"/>
              <a:buNone/>
            </a:pPr>
            <a:r>
              <a:t/>
            </a:r>
            <a:endParaRPr sz="1200">
              <a:solidFill>
                <a:schemeClr val="lt1"/>
              </a:solidFill>
              <a:latin typeface="Times New Roman"/>
              <a:ea typeface="Times New Roman"/>
              <a:cs typeface="Times New Roman"/>
              <a:sym typeface="Times New Roman"/>
            </a:endParaRPr>
          </a:p>
        </p:txBody>
      </p:sp>
      <p:sp>
        <p:nvSpPr>
          <p:cNvPr id="98" name="Google Shape;98;p10"/>
          <p:cNvSpPr txBox="1"/>
          <p:nvPr/>
        </p:nvSpPr>
        <p:spPr>
          <a:xfrm>
            <a:off x="5014673" y="1965054"/>
            <a:ext cx="1437900" cy="180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46879"/>
              </a:buClr>
              <a:buSzPts val="1000"/>
              <a:buFont typeface="Maven Pro Medium"/>
              <a:buNone/>
            </a:pPr>
            <a:r>
              <a:rPr lang="en" sz="1000">
                <a:solidFill>
                  <a:srgbClr val="646879"/>
                </a:solidFill>
                <a:latin typeface="Maven Pro Medium"/>
                <a:ea typeface="Maven Pro Medium"/>
                <a:cs typeface="Maven Pro Medium"/>
                <a:sym typeface="Maven Pro Medium"/>
              </a:rPr>
              <a:t>STUDENT</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ph idx="1" type="subTitle"/>
          </p:nvPr>
        </p:nvSpPr>
        <p:spPr>
          <a:xfrm>
            <a:off x="1043075" y="1520321"/>
            <a:ext cx="3105000" cy="4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Statistics</a:t>
            </a:r>
            <a:endParaRPr/>
          </a:p>
        </p:txBody>
      </p:sp>
      <p:sp>
        <p:nvSpPr>
          <p:cNvPr id="104" name="Google Shape;104;p11"/>
          <p:cNvSpPr txBox="1"/>
          <p:nvPr>
            <p:ph idx="3" type="subTitle"/>
          </p:nvPr>
        </p:nvSpPr>
        <p:spPr>
          <a:xfrm>
            <a:off x="1043073" y="1010750"/>
            <a:ext cx="3105000" cy="42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Severity of Road Traffic Accidents in Nigeria</a:t>
            </a:r>
            <a:endParaRPr/>
          </a:p>
        </p:txBody>
      </p:sp>
      <p:sp>
        <p:nvSpPr>
          <p:cNvPr id="105" name="Google Shape;105;p11"/>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Overview</a:t>
            </a:r>
            <a:endParaRPr/>
          </a:p>
        </p:txBody>
      </p:sp>
      <p:sp>
        <p:nvSpPr>
          <p:cNvPr id="106" name="Google Shape;106;p11"/>
          <p:cNvSpPr txBox="1"/>
          <p:nvPr/>
        </p:nvSpPr>
        <p:spPr>
          <a:xfrm>
            <a:off x="4518175" y="1348050"/>
            <a:ext cx="4225800" cy="2447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374151"/>
                </a:solidFill>
                <a:latin typeface="Roboto"/>
                <a:ea typeface="Roboto"/>
                <a:cs typeface="Roboto"/>
                <a:sym typeface="Roboto"/>
              </a:rPr>
              <a:t>Transportation and logistics are integral to society, but the rising trend of road traffic accidents (RTAs) in Nigeria poses a serious threat. With RTAs becoming the third-leading cause of death, accounting for trauma-related fatalities and the most common cause of disability, the situation demands attention. Nigeria records a concerning statistic of 1042 deaths per year per 100,000 vehicles, ranking high globally in road-related fatalities. This alarming prevalence in developing countries like Nigeria necessitates proactive measures for a safer transportation system.</a:t>
            </a:r>
            <a:endParaRPr sz="1300">
              <a:solidFill>
                <a:srgbClr val="758592"/>
              </a:solidFill>
              <a:latin typeface="Proxima Nova"/>
              <a:ea typeface="Proxima Nova"/>
              <a:cs typeface="Proxima Nova"/>
              <a:sym typeface="Proxima Nova"/>
            </a:endParaRPr>
          </a:p>
        </p:txBody>
      </p:sp>
      <p:sp>
        <p:nvSpPr>
          <p:cNvPr id="107" name="Google Shape;107;p11"/>
          <p:cNvSpPr/>
          <p:nvPr/>
        </p:nvSpPr>
        <p:spPr>
          <a:xfrm>
            <a:off x="1043084" y="2317277"/>
            <a:ext cx="3218100" cy="182400"/>
          </a:xfrm>
          <a:prstGeom prst="roundRect">
            <a:avLst>
              <a:gd fmla="val 21524" name="adj"/>
            </a:avLst>
          </a:prstGeom>
          <a:solidFill>
            <a:srgbClr val="D4DBE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08" name="Google Shape;108;p11"/>
          <p:cNvSpPr/>
          <p:nvPr/>
        </p:nvSpPr>
        <p:spPr>
          <a:xfrm>
            <a:off x="1043084" y="2317277"/>
            <a:ext cx="2105100" cy="182400"/>
          </a:xfrm>
          <a:prstGeom prst="roundRect">
            <a:avLst>
              <a:gd fmla="val 21524" name="adj"/>
            </a:avLst>
          </a:prstGeom>
          <a:gradFill>
            <a:gsLst>
              <a:gs pos="0">
                <a:srgbClr val="41537D">
                  <a:alpha val="74901"/>
                </a:srgbClr>
              </a:gs>
              <a:gs pos="100000">
                <a:srgbClr val="002A5C"/>
              </a:gs>
            </a:gsLst>
            <a:lin ang="3404057"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09" name="Google Shape;109;p11"/>
          <p:cNvSpPr txBox="1"/>
          <p:nvPr/>
        </p:nvSpPr>
        <p:spPr>
          <a:xfrm>
            <a:off x="1104753" y="2061625"/>
            <a:ext cx="1634700" cy="180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46879"/>
              </a:buClr>
              <a:buSzPts val="1000"/>
              <a:buFont typeface="Maven Pro Medium"/>
              <a:buNone/>
            </a:pPr>
            <a:r>
              <a:rPr lang="en" sz="1000">
                <a:solidFill>
                  <a:srgbClr val="002A5C"/>
                </a:solidFill>
                <a:latin typeface="Open Sans"/>
                <a:ea typeface="Open Sans"/>
                <a:cs typeface="Open Sans"/>
                <a:sym typeface="Open Sans"/>
              </a:rPr>
              <a:t>DEATHS PER YEAR</a:t>
            </a:r>
            <a:endParaRPr i="0" sz="500" u="none" cap="none" strike="noStrike">
              <a:solidFill>
                <a:srgbClr val="002A5C"/>
              </a:solidFill>
              <a:latin typeface="Open Sans"/>
              <a:ea typeface="Open Sans"/>
              <a:cs typeface="Open Sans"/>
              <a:sym typeface="Open Sans"/>
            </a:endParaRPr>
          </a:p>
        </p:txBody>
      </p:sp>
      <p:sp>
        <p:nvSpPr>
          <p:cNvPr id="110" name="Google Shape;110;p11"/>
          <p:cNvSpPr txBox="1"/>
          <p:nvPr/>
        </p:nvSpPr>
        <p:spPr>
          <a:xfrm>
            <a:off x="3653258" y="2061624"/>
            <a:ext cx="588300" cy="180900"/>
          </a:xfrm>
          <a:prstGeom prst="rect">
            <a:avLst/>
          </a:prstGeom>
          <a:noFill/>
          <a:ln>
            <a:noFill/>
          </a:ln>
        </p:spPr>
        <p:txBody>
          <a:bodyPr anchorCtr="0" anchor="ctr" bIns="19050" lIns="19050" spcFirstLastPara="1" rIns="19050" wrap="square" tIns="19050">
            <a:noAutofit/>
          </a:bodyPr>
          <a:lstStyle/>
          <a:p>
            <a:pPr indent="0" lvl="0" marL="0" marR="0" rtl="0" algn="r">
              <a:lnSpc>
                <a:spcPct val="100000"/>
              </a:lnSpc>
              <a:spcBef>
                <a:spcPts val="0"/>
              </a:spcBef>
              <a:spcAft>
                <a:spcPts val="0"/>
              </a:spcAft>
              <a:buClr>
                <a:srgbClr val="646879"/>
              </a:buClr>
              <a:buSzPts val="1000"/>
              <a:buFont typeface="Maven Pro Medium"/>
              <a:buNone/>
            </a:pPr>
            <a:r>
              <a:rPr lang="en" sz="1000">
                <a:solidFill>
                  <a:srgbClr val="646879"/>
                </a:solidFill>
                <a:latin typeface="Maven Pro Medium"/>
                <a:ea typeface="Maven Pro Medium"/>
                <a:cs typeface="Maven Pro Medium"/>
                <a:sym typeface="Maven Pro Medium"/>
              </a:rPr>
              <a:t>1042</a:t>
            </a:r>
            <a:endParaRPr b="0" i="0" sz="500" u="none" cap="none" strike="noStrike">
              <a:solidFill>
                <a:srgbClr val="000000"/>
              </a:solidFill>
              <a:latin typeface="Arial"/>
              <a:ea typeface="Arial"/>
              <a:cs typeface="Arial"/>
              <a:sym typeface="Arial"/>
            </a:endParaRPr>
          </a:p>
        </p:txBody>
      </p:sp>
      <p:sp>
        <p:nvSpPr>
          <p:cNvPr id="111" name="Google Shape;111;p11"/>
          <p:cNvSpPr/>
          <p:nvPr/>
        </p:nvSpPr>
        <p:spPr>
          <a:xfrm>
            <a:off x="1043084" y="3460277"/>
            <a:ext cx="3218100" cy="182400"/>
          </a:xfrm>
          <a:prstGeom prst="roundRect">
            <a:avLst>
              <a:gd fmla="val 21524" name="adj"/>
            </a:avLst>
          </a:prstGeom>
          <a:solidFill>
            <a:srgbClr val="D4DBE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12" name="Google Shape;112;p11"/>
          <p:cNvSpPr/>
          <p:nvPr/>
        </p:nvSpPr>
        <p:spPr>
          <a:xfrm>
            <a:off x="1043075" y="3460275"/>
            <a:ext cx="1444200" cy="182400"/>
          </a:xfrm>
          <a:prstGeom prst="roundRect">
            <a:avLst>
              <a:gd fmla="val 21524" name="adj"/>
            </a:avLst>
          </a:prstGeom>
          <a:gradFill>
            <a:gsLst>
              <a:gs pos="0">
                <a:srgbClr val="41537D">
                  <a:alpha val="74901"/>
                </a:srgbClr>
              </a:gs>
              <a:gs pos="100000">
                <a:srgbClr val="002A5C"/>
              </a:gs>
            </a:gsLst>
            <a:lin ang="3404057"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13" name="Google Shape;113;p11"/>
          <p:cNvSpPr txBox="1"/>
          <p:nvPr/>
        </p:nvSpPr>
        <p:spPr>
          <a:xfrm>
            <a:off x="1104741" y="3204625"/>
            <a:ext cx="1269000" cy="180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46879"/>
              </a:buClr>
              <a:buSzPts val="1000"/>
              <a:buFont typeface="Maven Pro Medium"/>
              <a:buNone/>
            </a:pPr>
            <a:r>
              <a:rPr lang="en" sz="1000">
                <a:solidFill>
                  <a:srgbClr val="002A5C"/>
                </a:solidFill>
                <a:latin typeface="Open Sans"/>
                <a:ea typeface="Open Sans"/>
                <a:cs typeface="Open Sans"/>
                <a:sym typeface="Open Sans"/>
              </a:rPr>
              <a:t>DEATH CAUSE RANK</a:t>
            </a:r>
            <a:endParaRPr i="0" sz="500" u="none" cap="none" strike="noStrike">
              <a:solidFill>
                <a:srgbClr val="002A5C"/>
              </a:solidFill>
              <a:latin typeface="Open Sans"/>
              <a:ea typeface="Open Sans"/>
              <a:cs typeface="Open Sans"/>
              <a:sym typeface="Open Sans"/>
            </a:endParaRPr>
          </a:p>
        </p:txBody>
      </p:sp>
      <p:sp>
        <p:nvSpPr>
          <p:cNvPr id="114" name="Google Shape;114;p11"/>
          <p:cNvSpPr txBox="1"/>
          <p:nvPr/>
        </p:nvSpPr>
        <p:spPr>
          <a:xfrm>
            <a:off x="3653258" y="3204624"/>
            <a:ext cx="588300" cy="180900"/>
          </a:xfrm>
          <a:prstGeom prst="rect">
            <a:avLst/>
          </a:prstGeom>
          <a:noFill/>
          <a:ln>
            <a:noFill/>
          </a:ln>
        </p:spPr>
        <p:txBody>
          <a:bodyPr anchorCtr="0" anchor="ctr" bIns="19050" lIns="19050" spcFirstLastPara="1" rIns="19050" wrap="square" tIns="19050">
            <a:noAutofit/>
          </a:bodyPr>
          <a:lstStyle/>
          <a:p>
            <a:pPr indent="0" lvl="0" marL="0" marR="0" rtl="0" algn="r">
              <a:lnSpc>
                <a:spcPct val="100000"/>
              </a:lnSpc>
              <a:spcBef>
                <a:spcPts val="0"/>
              </a:spcBef>
              <a:spcAft>
                <a:spcPts val="0"/>
              </a:spcAft>
              <a:buClr>
                <a:srgbClr val="646879"/>
              </a:buClr>
              <a:buSzPts val="1000"/>
              <a:buFont typeface="Maven Pro Medium"/>
              <a:buNone/>
            </a:pPr>
            <a:r>
              <a:rPr lang="en" sz="1000">
                <a:solidFill>
                  <a:srgbClr val="646879"/>
                </a:solidFill>
                <a:latin typeface="Maven Pro Medium"/>
                <a:ea typeface="Maven Pro Medium"/>
                <a:cs typeface="Maven Pro Medium"/>
                <a:sym typeface="Maven Pro Medium"/>
              </a:rPr>
              <a:t>3rd</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2"/>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Exploration and Preprocessing</a:t>
            </a:r>
            <a:endParaRPr/>
          </a:p>
        </p:txBody>
      </p:sp>
      <p:sp>
        <p:nvSpPr>
          <p:cNvPr id="120" name="Google Shape;120;p12"/>
          <p:cNvSpPr/>
          <p:nvPr/>
        </p:nvSpPr>
        <p:spPr>
          <a:xfrm>
            <a:off x="3537149" y="2824162"/>
            <a:ext cx="2312442" cy="813664"/>
          </a:xfrm>
          <a:custGeom>
            <a:rect b="b" l="l" r="r" t="t"/>
            <a:pathLst>
              <a:path extrusionOk="0" h="21507" w="21600">
                <a:moveTo>
                  <a:pt x="1615" y="0"/>
                </a:moveTo>
                <a:lnTo>
                  <a:pt x="0" y="1886"/>
                </a:lnTo>
                <a:cubicBezTo>
                  <a:pt x="1863" y="13728"/>
                  <a:pt x="6055" y="21414"/>
                  <a:pt x="10701" y="21506"/>
                </a:cubicBezTo>
                <a:cubicBezTo>
                  <a:pt x="15427" y="21600"/>
                  <a:pt x="19716" y="13838"/>
                  <a:pt x="21600" y="1783"/>
                </a:cubicBezTo>
                <a:lnTo>
                  <a:pt x="20007" y="8"/>
                </a:lnTo>
                <a:cubicBezTo>
                  <a:pt x="18422" y="9989"/>
                  <a:pt x="14893" y="16490"/>
                  <a:pt x="10970" y="16652"/>
                </a:cubicBezTo>
                <a:cubicBezTo>
                  <a:pt x="6934" y="16819"/>
                  <a:pt x="3252" y="10265"/>
                  <a:pt x="1615" y="0"/>
                </a:cubicBezTo>
                <a:close/>
              </a:path>
            </a:pathLst>
          </a:custGeom>
          <a:solidFill>
            <a:srgbClr val="D4DBE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21" name="Google Shape;121;p12"/>
          <p:cNvSpPr/>
          <p:nvPr/>
        </p:nvSpPr>
        <p:spPr>
          <a:xfrm>
            <a:off x="3432825" y="1157300"/>
            <a:ext cx="2523880" cy="1698359"/>
          </a:xfrm>
          <a:custGeom>
            <a:rect b="b" l="l" r="r" t="t"/>
            <a:pathLst>
              <a:path extrusionOk="0" h="21598" w="21585">
                <a:moveTo>
                  <a:pt x="10820" y="0"/>
                </a:moveTo>
                <a:cubicBezTo>
                  <a:pt x="9445" y="-2"/>
                  <a:pt x="8082" y="377"/>
                  <a:pt x="6804" y="1119"/>
                </a:cubicBezTo>
                <a:lnTo>
                  <a:pt x="7449" y="3251"/>
                </a:lnTo>
                <a:cubicBezTo>
                  <a:pt x="7565" y="3182"/>
                  <a:pt x="7682" y="3119"/>
                  <a:pt x="7800" y="3059"/>
                </a:cubicBezTo>
                <a:cubicBezTo>
                  <a:pt x="7928" y="2995"/>
                  <a:pt x="8058" y="2937"/>
                  <a:pt x="8188" y="2885"/>
                </a:cubicBezTo>
                <a:cubicBezTo>
                  <a:pt x="7534" y="5606"/>
                  <a:pt x="8944" y="8444"/>
                  <a:pt x="10917" y="8373"/>
                </a:cubicBezTo>
                <a:cubicBezTo>
                  <a:pt x="12816" y="8305"/>
                  <a:pt x="14117" y="5547"/>
                  <a:pt x="13485" y="2927"/>
                </a:cubicBezTo>
                <a:cubicBezTo>
                  <a:pt x="13603" y="2981"/>
                  <a:pt x="13721" y="3038"/>
                  <a:pt x="13837" y="3098"/>
                </a:cubicBezTo>
                <a:cubicBezTo>
                  <a:pt x="13941" y="3150"/>
                  <a:pt x="14043" y="3205"/>
                  <a:pt x="14146" y="3262"/>
                </a:cubicBezTo>
                <a:lnTo>
                  <a:pt x="14745" y="1080"/>
                </a:lnTo>
                <a:cubicBezTo>
                  <a:pt x="13494" y="368"/>
                  <a:pt x="12163" y="2"/>
                  <a:pt x="10820" y="0"/>
                </a:cubicBezTo>
                <a:close/>
                <a:moveTo>
                  <a:pt x="10836" y="908"/>
                </a:moveTo>
                <a:cubicBezTo>
                  <a:pt x="11423" y="908"/>
                  <a:pt x="12010" y="1237"/>
                  <a:pt x="12458" y="1892"/>
                </a:cubicBezTo>
                <a:cubicBezTo>
                  <a:pt x="13354" y="3202"/>
                  <a:pt x="13354" y="5325"/>
                  <a:pt x="12458" y="6635"/>
                </a:cubicBezTo>
                <a:cubicBezTo>
                  <a:pt x="11561" y="7945"/>
                  <a:pt x="10109" y="7945"/>
                  <a:pt x="9213" y="6635"/>
                </a:cubicBezTo>
                <a:cubicBezTo>
                  <a:pt x="8317" y="5325"/>
                  <a:pt x="8317" y="3202"/>
                  <a:pt x="9213" y="1892"/>
                </a:cubicBezTo>
                <a:cubicBezTo>
                  <a:pt x="9661" y="1237"/>
                  <a:pt x="10249" y="908"/>
                  <a:pt x="10836" y="908"/>
                </a:cubicBezTo>
                <a:close/>
                <a:moveTo>
                  <a:pt x="15096" y="1303"/>
                </a:moveTo>
                <a:lnTo>
                  <a:pt x="14502" y="3483"/>
                </a:lnTo>
                <a:cubicBezTo>
                  <a:pt x="14628" y="3565"/>
                  <a:pt x="14752" y="3650"/>
                  <a:pt x="14876" y="3739"/>
                </a:cubicBezTo>
                <a:cubicBezTo>
                  <a:pt x="14984" y="3817"/>
                  <a:pt x="15091" y="3899"/>
                  <a:pt x="15197" y="3983"/>
                </a:cubicBezTo>
                <a:cubicBezTo>
                  <a:pt x="14364" y="4558"/>
                  <a:pt x="13830" y="5627"/>
                  <a:pt x="13650" y="6812"/>
                </a:cubicBezTo>
                <a:cubicBezTo>
                  <a:pt x="13469" y="8006"/>
                  <a:pt x="13648" y="9319"/>
                  <a:pt x="14251" y="10350"/>
                </a:cubicBezTo>
                <a:cubicBezTo>
                  <a:pt x="15566" y="12598"/>
                  <a:pt x="18024" y="12157"/>
                  <a:pt x="18928" y="9511"/>
                </a:cubicBezTo>
                <a:lnTo>
                  <a:pt x="19227" y="10421"/>
                </a:lnTo>
                <a:lnTo>
                  <a:pt x="20700" y="9512"/>
                </a:lnTo>
                <a:cubicBezTo>
                  <a:pt x="20184" y="7777"/>
                  <a:pt x="19460" y="6191"/>
                  <a:pt x="18562" y="4829"/>
                </a:cubicBezTo>
                <a:cubicBezTo>
                  <a:pt x="17576" y="3334"/>
                  <a:pt x="16398" y="2136"/>
                  <a:pt x="15096" y="1303"/>
                </a:cubicBezTo>
                <a:close/>
                <a:moveTo>
                  <a:pt x="6451" y="1317"/>
                </a:moveTo>
                <a:cubicBezTo>
                  <a:pt x="5145" y="2159"/>
                  <a:pt x="3965" y="3370"/>
                  <a:pt x="2980" y="4881"/>
                </a:cubicBezTo>
                <a:cubicBezTo>
                  <a:pt x="2095" y="6238"/>
                  <a:pt x="1383" y="7814"/>
                  <a:pt x="875" y="9536"/>
                </a:cubicBezTo>
                <a:lnTo>
                  <a:pt x="2347" y="10415"/>
                </a:lnTo>
                <a:cubicBezTo>
                  <a:pt x="2407" y="10224"/>
                  <a:pt x="2469" y="10033"/>
                  <a:pt x="2533" y="9845"/>
                </a:cubicBezTo>
                <a:cubicBezTo>
                  <a:pt x="2595" y="9661"/>
                  <a:pt x="2660" y="9479"/>
                  <a:pt x="2727" y="9298"/>
                </a:cubicBezTo>
                <a:cubicBezTo>
                  <a:pt x="3124" y="10655"/>
                  <a:pt x="3934" y="11492"/>
                  <a:pt x="4818" y="11719"/>
                </a:cubicBezTo>
                <a:cubicBezTo>
                  <a:pt x="5730" y="11952"/>
                  <a:pt x="6715" y="11535"/>
                  <a:pt x="7407" y="10396"/>
                </a:cubicBezTo>
                <a:cubicBezTo>
                  <a:pt x="8040" y="9356"/>
                  <a:pt x="8230" y="8016"/>
                  <a:pt x="8048" y="6796"/>
                </a:cubicBezTo>
                <a:cubicBezTo>
                  <a:pt x="7867" y="5580"/>
                  <a:pt x="7316" y="4481"/>
                  <a:pt x="6453" y="3906"/>
                </a:cubicBezTo>
                <a:lnTo>
                  <a:pt x="7084" y="3470"/>
                </a:lnTo>
                <a:lnTo>
                  <a:pt x="6451" y="1317"/>
                </a:lnTo>
                <a:close/>
                <a:moveTo>
                  <a:pt x="5304" y="4320"/>
                </a:moveTo>
                <a:cubicBezTo>
                  <a:pt x="5892" y="4320"/>
                  <a:pt x="6479" y="4648"/>
                  <a:pt x="6927" y="5303"/>
                </a:cubicBezTo>
                <a:cubicBezTo>
                  <a:pt x="7823" y="6613"/>
                  <a:pt x="7823" y="8737"/>
                  <a:pt x="6927" y="10047"/>
                </a:cubicBezTo>
                <a:cubicBezTo>
                  <a:pt x="6031" y="11357"/>
                  <a:pt x="4578" y="11357"/>
                  <a:pt x="3682" y="10047"/>
                </a:cubicBezTo>
                <a:cubicBezTo>
                  <a:pt x="2785" y="8737"/>
                  <a:pt x="2785" y="6613"/>
                  <a:pt x="3682" y="5303"/>
                </a:cubicBezTo>
                <a:cubicBezTo>
                  <a:pt x="4130" y="4648"/>
                  <a:pt x="4717" y="4320"/>
                  <a:pt x="5304" y="4320"/>
                </a:cubicBezTo>
                <a:close/>
                <a:moveTo>
                  <a:pt x="16401" y="4336"/>
                </a:moveTo>
                <a:cubicBezTo>
                  <a:pt x="16988" y="4336"/>
                  <a:pt x="17575" y="4662"/>
                  <a:pt x="18023" y="5317"/>
                </a:cubicBezTo>
                <a:cubicBezTo>
                  <a:pt x="18919" y="6628"/>
                  <a:pt x="18919" y="8753"/>
                  <a:pt x="18023" y="10063"/>
                </a:cubicBezTo>
                <a:cubicBezTo>
                  <a:pt x="17127" y="11373"/>
                  <a:pt x="15674" y="11373"/>
                  <a:pt x="14778" y="10063"/>
                </a:cubicBezTo>
                <a:cubicBezTo>
                  <a:pt x="13882" y="8753"/>
                  <a:pt x="13882" y="6628"/>
                  <a:pt x="14778" y="5317"/>
                </a:cubicBezTo>
                <a:cubicBezTo>
                  <a:pt x="15226" y="4662"/>
                  <a:pt x="15813" y="4336"/>
                  <a:pt x="16401" y="4336"/>
                </a:cubicBezTo>
                <a:close/>
                <a:moveTo>
                  <a:pt x="20848" y="10026"/>
                </a:moveTo>
                <a:lnTo>
                  <a:pt x="19368" y="10926"/>
                </a:lnTo>
                <a:lnTo>
                  <a:pt x="19604" y="11934"/>
                </a:lnTo>
                <a:cubicBezTo>
                  <a:pt x="17787" y="10994"/>
                  <a:pt x="15878" y="12949"/>
                  <a:pt x="15862" y="15766"/>
                </a:cubicBezTo>
                <a:cubicBezTo>
                  <a:pt x="15854" y="17178"/>
                  <a:pt x="16323" y="18385"/>
                  <a:pt x="17022" y="19130"/>
                </a:cubicBezTo>
                <a:cubicBezTo>
                  <a:pt x="17720" y="19875"/>
                  <a:pt x="18648" y="20159"/>
                  <a:pt x="19566" y="19724"/>
                </a:cubicBezTo>
                <a:cubicBezTo>
                  <a:pt x="19535" y="19885"/>
                  <a:pt x="19501" y="20044"/>
                  <a:pt x="19465" y="20202"/>
                </a:cubicBezTo>
                <a:cubicBezTo>
                  <a:pt x="19429" y="20357"/>
                  <a:pt x="19390" y="20511"/>
                  <a:pt x="19348" y="20663"/>
                </a:cubicBezTo>
                <a:lnTo>
                  <a:pt x="20842" y="21548"/>
                </a:lnTo>
                <a:cubicBezTo>
                  <a:pt x="21335" y="19703"/>
                  <a:pt x="21587" y="17739"/>
                  <a:pt x="21586" y="15758"/>
                </a:cubicBezTo>
                <a:cubicBezTo>
                  <a:pt x="21584" y="13797"/>
                  <a:pt x="21334" y="11854"/>
                  <a:pt x="20848" y="10026"/>
                </a:cubicBezTo>
                <a:close/>
                <a:moveTo>
                  <a:pt x="722" y="10064"/>
                </a:moveTo>
                <a:cubicBezTo>
                  <a:pt x="258" y="11837"/>
                  <a:pt x="14" y="13718"/>
                  <a:pt x="1" y="15617"/>
                </a:cubicBezTo>
                <a:cubicBezTo>
                  <a:pt x="-13" y="17662"/>
                  <a:pt x="242" y="19693"/>
                  <a:pt x="752" y="21598"/>
                </a:cubicBezTo>
                <a:lnTo>
                  <a:pt x="2232" y="20687"/>
                </a:lnTo>
                <a:cubicBezTo>
                  <a:pt x="2187" y="20528"/>
                  <a:pt x="2146" y="20365"/>
                  <a:pt x="2107" y="20202"/>
                </a:cubicBezTo>
                <a:cubicBezTo>
                  <a:pt x="2068" y="20035"/>
                  <a:pt x="2032" y="19867"/>
                  <a:pt x="2000" y="19697"/>
                </a:cubicBezTo>
                <a:cubicBezTo>
                  <a:pt x="3885" y="20642"/>
                  <a:pt x="5828" y="18507"/>
                  <a:pt x="5732" y="15597"/>
                </a:cubicBezTo>
                <a:cubicBezTo>
                  <a:pt x="5686" y="14224"/>
                  <a:pt x="5194" y="13081"/>
                  <a:pt x="4492" y="12394"/>
                </a:cubicBezTo>
                <a:cubicBezTo>
                  <a:pt x="3786" y="11702"/>
                  <a:pt x="2866" y="11472"/>
                  <a:pt x="1975" y="11938"/>
                </a:cubicBezTo>
                <a:cubicBezTo>
                  <a:pt x="2008" y="11775"/>
                  <a:pt x="2045" y="11613"/>
                  <a:pt x="2083" y="11452"/>
                </a:cubicBezTo>
                <a:cubicBezTo>
                  <a:pt x="2125" y="11279"/>
                  <a:pt x="2169" y="11108"/>
                  <a:pt x="2216" y="10938"/>
                </a:cubicBezTo>
                <a:lnTo>
                  <a:pt x="722" y="10064"/>
                </a:lnTo>
                <a:close/>
                <a:moveTo>
                  <a:pt x="2924" y="12455"/>
                </a:moveTo>
                <a:cubicBezTo>
                  <a:pt x="3511" y="12455"/>
                  <a:pt x="4099" y="12782"/>
                  <a:pt x="4547" y="13437"/>
                </a:cubicBezTo>
                <a:cubicBezTo>
                  <a:pt x="5443" y="14747"/>
                  <a:pt x="5443" y="16871"/>
                  <a:pt x="4547" y="18182"/>
                </a:cubicBezTo>
                <a:cubicBezTo>
                  <a:pt x="3651" y="19492"/>
                  <a:pt x="2198" y="19492"/>
                  <a:pt x="1301" y="18182"/>
                </a:cubicBezTo>
                <a:cubicBezTo>
                  <a:pt x="405" y="16871"/>
                  <a:pt x="405" y="14747"/>
                  <a:pt x="1301" y="13437"/>
                </a:cubicBezTo>
                <a:cubicBezTo>
                  <a:pt x="1750" y="12782"/>
                  <a:pt x="2337" y="12455"/>
                  <a:pt x="2924" y="12455"/>
                </a:cubicBezTo>
                <a:close/>
                <a:moveTo>
                  <a:pt x="18675" y="12455"/>
                </a:moveTo>
                <a:cubicBezTo>
                  <a:pt x="19262" y="12455"/>
                  <a:pt x="19850" y="12782"/>
                  <a:pt x="20298" y="13437"/>
                </a:cubicBezTo>
                <a:cubicBezTo>
                  <a:pt x="21195" y="14747"/>
                  <a:pt x="21195" y="16871"/>
                  <a:pt x="20298" y="18182"/>
                </a:cubicBezTo>
                <a:cubicBezTo>
                  <a:pt x="19402" y="19492"/>
                  <a:pt x="17949" y="19492"/>
                  <a:pt x="17053" y="18182"/>
                </a:cubicBezTo>
                <a:cubicBezTo>
                  <a:pt x="16157" y="16871"/>
                  <a:pt x="16157" y="14747"/>
                  <a:pt x="17053" y="13437"/>
                </a:cubicBezTo>
                <a:cubicBezTo>
                  <a:pt x="17501" y="12782"/>
                  <a:pt x="18088" y="12455"/>
                  <a:pt x="18675" y="12455"/>
                </a:cubicBezTo>
                <a:close/>
              </a:path>
            </a:pathLst>
          </a:custGeom>
          <a:gradFill>
            <a:gsLst>
              <a:gs pos="0">
                <a:srgbClr val="41537D">
                  <a:alpha val="74901"/>
                </a:srgbClr>
              </a:gs>
              <a:gs pos="100000">
                <a:srgbClr val="002A5C"/>
              </a:gs>
            </a:gsLst>
            <a:lin ang="3404057"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22" name="Google Shape;122;p12"/>
          <p:cNvSpPr txBox="1"/>
          <p:nvPr/>
        </p:nvSpPr>
        <p:spPr>
          <a:xfrm>
            <a:off x="3670958" y="2278558"/>
            <a:ext cx="228900" cy="1980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700"/>
              <a:buFont typeface="Maven Pro Medium"/>
              <a:buNone/>
            </a:pPr>
            <a:r>
              <a:rPr b="1" i="0" lang="en" sz="1700" u="none" cap="none" strike="noStrike">
                <a:solidFill>
                  <a:srgbClr val="D00D2D"/>
                </a:solidFill>
                <a:latin typeface="Montserrat"/>
                <a:ea typeface="Montserrat"/>
                <a:cs typeface="Montserrat"/>
                <a:sym typeface="Montserrat"/>
              </a:rPr>
              <a:t>A</a:t>
            </a:r>
            <a:endParaRPr b="1" i="0" sz="500" u="none" cap="none" strike="noStrike">
              <a:solidFill>
                <a:srgbClr val="D00D2D"/>
              </a:solidFill>
              <a:latin typeface="Montserrat"/>
              <a:ea typeface="Montserrat"/>
              <a:cs typeface="Montserrat"/>
              <a:sym typeface="Montserrat"/>
            </a:endParaRPr>
          </a:p>
        </p:txBody>
      </p:sp>
      <p:sp>
        <p:nvSpPr>
          <p:cNvPr id="123" name="Google Shape;123;p12"/>
          <p:cNvSpPr txBox="1"/>
          <p:nvPr/>
        </p:nvSpPr>
        <p:spPr>
          <a:xfrm>
            <a:off x="5518002" y="2278558"/>
            <a:ext cx="228900" cy="1980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700"/>
              <a:buFont typeface="Maven Pro Medium"/>
              <a:buNone/>
            </a:pPr>
            <a:r>
              <a:rPr b="1" i="0" lang="en" sz="1700" u="none" cap="none" strike="noStrike">
                <a:solidFill>
                  <a:srgbClr val="D00D2D"/>
                </a:solidFill>
                <a:latin typeface="Montserrat"/>
                <a:ea typeface="Montserrat"/>
                <a:cs typeface="Montserrat"/>
                <a:sym typeface="Montserrat"/>
              </a:rPr>
              <a:t>E</a:t>
            </a:r>
            <a:endParaRPr b="1" i="0" sz="500" u="none" cap="none" strike="noStrike">
              <a:solidFill>
                <a:srgbClr val="D00D2D"/>
              </a:solidFill>
              <a:latin typeface="Montserrat"/>
              <a:ea typeface="Montserrat"/>
              <a:cs typeface="Montserrat"/>
              <a:sym typeface="Montserrat"/>
            </a:endParaRPr>
          </a:p>
        </p:txBody>
      </p:sp>
      <p:sp>
        <p:nvSpPr>
          <p:cNvPr id="124" name="Google Shape;124;p12"/>
          <p:cNvSpPr txBox="1"/>
          <p:nvPr/>
        </p:nvSpPr>
        <p:spPr>
          <a:xfrm>
            <a:off x="3946335" y="1644684"/>
            <a:ext cx="228900" cy="1980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700"/>
              <a:buFont typeface="Maven Pro Medium"/>
              <a:buNone/>
            </a:pPr>
            <a:r>
              <a:rPr b="1" i="0" lang="en" sz="1700" u="none" cap="none" strike="noStrike">
                <a:solidFill>
                  <a:srgbClr val="D00D2D"/>
                </a:solidFill>
                <a:latin typeface="Montserrat"/>
                <a:ea typeface="Montserrat"/>
                <a:cs typeface="Montserrat"/>
                <a:sym typeface="Montserrat"/>
              </a:rPr>
              <a:t>B</a:t>
            </a:r>
            <a:endParaRPr b="1" i="0" sz="500" u="none" cap="none" strike="noStrike">
              <a:solidFill>
                <a:srgbClr val="D00D2D"/>
              </a:solidFill>
              <a:latin typeface="Montserrat"/>
              <a:ea typeface="Montserrat"/>
              <a:cs typeface="Montserrat"/>
              <a:sym typeface="Montserrat"/>
            </a:endParaRPr>
          </a:p>
        </p:txBody>
      </p:sp>
      <p:sp>
        <p:nvSpPr>
          <p:cNvPr id="125" name="Google Shape;125;p12"/>
          <p:cNvSpPr txBox="1"/>
          <p:nvPr/>
        </p:nvSpPr>
        <p:spPr>
          <a:xfrm>
            <a:off x="4593731" y="1373967"/>
            <a:ext cx="228900" cy="1980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700"/>
              <a:buFont typeface="Maven Pro Medium"/>
              <a:buNone/>
            </a:pPr>
            <a:r>
              <a:rPr b="1" i="0" lang="en" sz="1700" u="none" cap="none" strike="noStrike">
                <a:solidFill>
                  <a:srgbClr val="D00D2D"/>
                </a:solidFill>
                <a:latin typeface="Montserrat"/>
                <a:ea typeface="Montserrat"/>
                <a:cs typeface="Montserrat"/>
                <a:sym typeface="Montserrat"/>
              </a:rPr>
              <a:t>C</a:t>
            </a:r>
            <a:endParaRPr b="1" i="0" sz="500" u="none" cap="none" strike="noStrike">
              <a:solidFill>
                <a:srgbClr val="D00D2D"/>
              </a:solidFill>
              <a:latin typeface="Montserrat"/>
              <a:ea typeface="Montserrat"/>
              <a:cs typeface="Montserrat"/>
              <a:sym typeface="Montserrat"/>
            </a:endParaRPr>
          </a:p>
        </p:txBody>
      </p:sp>
      <p:sp>
        <p:nvSpPr>
          <p:cNvPr id="126" name="Google Shape;126;p12"/>
          <p:cNvSpPr txBox="1"/>
          <p:nvPr/>
        </p:nvSpPr>
        <p:spPr>
          <a:xfrm>
            <a:off x="5249341" y="1644684"/>
            <a:ext cx="228900" cy="1980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700"/>
              <a:buFont typeface="Maven Pro Medium"/>
              <a:buNone/>
            </a:pPr>
            <a:r>
              <a:rPr b="1" i="0" lang="en" sz="1700" u="none" cap="none" strike="noStrike">
                <a:solidFill>
                  <a:srgbClr val="D00D2D"/>
                </a:solidFill>
                <a:latin typeface="Montserrat"/>
                <a:ea typeface="Montserrat"/>
                <a:cs typeface="Montserrat"/>
                <a:sym typeface="Montserrat"/>
              </a:rPr>
              <a:t>D</a:t>
            </a:r>
            <a:endParaRPr b="1" i="0" sz="500" u="none" cap="none" strike="noStrike">
              <a:solidFill>
                <a:srgbClr val="D00D2D"/>
              </a:solidFill>
              <a:latin typeface="Montserrat"/>
              <a:ea typeface="Montserrat"/>
              <a:cs typeface="Montserrat"/>
              <a:sym typeface="Montserrat"/>
            </a:endParaRPr>
          </a:p>
        </p:txBody>
      </p:sp>
      <p:sp>
        <p:nvSpPr>
          <p:cNvPr id="127" name="Google Shape;127;p12"/>
          <p:cNvSpPr txBox="1"/>
          <p:nvPr/>
        </p:nvSpPr>
        <p:spPr>
          <a:xfrm>
            <a:off x="3834983" y="2836232"/>
            <a:ext cx="1740600" cy="3192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31333D"/>
              </a:buClr>
              <a:buSzPts val="1900"/>
              <a:buFont typeface="Maven Pro Medium"/>
              <a:buNone/>
            </a:pPr>
            <a:r>
              <a:rPr b="1" i="0" lang="en" sz="1900" u="none" cap="none" strike="noStrike">
                <a:solidFill>
                  <a:srgbClr val="31333D"/>
                </a:solidFill>
                <a:latin typeface="Montserrat"/>
                <a:ea typeface="Montserrat"/>
                <a:cs typeface="Montserrat"/>
                <a:sym typeface="Montserrat"/>
              </a:rPr>
              <a:t>PROCESS</a:t>
            </a:r>
            <a:endParaRPr b="1" i="0" sz="500" u="none" cap="none" strike="noStrike">
              <a:solidFill>
                <a:srgbClr val="000000"/>
              </a:solidFill>
              <a:latin typeface="Montserrat"/>
              <a:ea typeface="Montserrat"/>
              <a:cs typeface="Montserrat"/>
              <a:sym typeface="Montserrat"/>
            </a:endParaRPr>
          </a:p>
        </p:txBody>
      </p:sp>
      <p:sp>
        <p:nvSpPr>
          <p:cNvPr id="128" name="Google Shape;128;p12"/>
          <p:cNvSpPr/>
          <p:nvPr/>
        </p:nvSpPr>
        <p:spPr>
          <a:xfrm>
            <a:off x="4499695" y="2115328"/>
            <a:ext cx="417017" cy="145760"/>
          </a:xfrm>
          <a:custGeom>
            <a:rect b="b" l="l" r="r" t="t"/>
            <a:pathLst>
              <a:path extrusionOk="0" h="21310" w="21380">
                <a:moveTo>
                  <a:pt x="10829" y="4"/>
                </a:moveTo>
                <a:cubicBezTo>
                  <a:pt x="8668" y="-147"/>
                  <a:pt x="6864" y="4633"/>
                  <a:pt x="6858" y="10653"/>
                </a:cubicBezTo>
                <a:cubicBezTo>
                  <a:pt x="6852" y="16420"/>
                  <a:pt x="8513" y="21087"/>
                  <a:pt x="10581" y="21303"/>
                </a:cubicBezTo>
                <a:cubicBezTo>
                  <a:pt x="12027" y="21453"/>
                  <a:pt x="13378" y="19280"/>
                  <a:pt x="14063" y="15706"/>
                </a:cubicBezTo>
                <a:cubicBezTo>
                  <a:pt x="14350" y="14244"/>
                  <a:pt x="14842" y="13182"/>
                  <a:pt x="15419" y="12765"/>
                </a:cubicBezTo>
                <a:cubicBezTo>
                  <a:pt x="16212" y="12191"/>
                  <a:pt x="17052" y="12890"/>
                  <a:pt x="17603" y="14590"/>
                </a:cubicBezTo>
                <a:cubicBezTo>
                  <a:pt x="18900" y="18813"/>
                  <a:pt x="21371" y="16270"/>
                  <a:pt x="21381" y="10698"/>
                </a:cubicBezTo>
                <a:cubicBezTo>
                  <a:pt x="21390" y="5071"/>
                  <a:pt x="18891" y="2453"/>
                  <a:pt x="17587" y="6731"/>
                </a:cubicBezTo>
                <a:cubicBezTo>
                  <a:pt x="17150" y="8044"/>
                  <a:pt x="16527" y="8760"/>
                  <a:pt x="15887" y="8692"/>
                </a:cubicBezTo>
                <a:cubicBezTo>
                  <a:pt x="15103" y="8610"/>
                  <a:pt x="14394" y="7388"/>
                  <a:pt x="14014" y="5464"/>
                </a:cubicBezTo>
                <a:cubicBezTo>
                  <a:pt x="13376" y="2181"/>
                  <a:pt x="12162" y="97"/>
                  <a:pt x="10829" y="4"/>
                </a:cubicBezTo>
                <a:close/>
                <a:moveTo>
                  <a:pt x="2155" y="4559"/>
                </a:moveTo>
                <a:cubicBezTo>
                  <a:pt x="1603" y="4559"/>
                  <a:pt x="1053" y="5159"/>
                  <a:pt x="632" y="6339"/>
                </a:cubicBezTo>
                <a:cubicBezTo>
                  <a:pt x="-210" y="8699"/>
                  <a:pt x="-210" y="12517"/>
                  <a:pt x="632" y="14877"/>
                </a:cubicBezTo>
                <a:cubicBezTo>
                  <a:pt x="1474" y="17237"/>
                  <a:pt x="2836" y="17237"/>
                  <a:pt x="3677" y="14877"/>
                </a:cubicBezTo>
                <a:cubicBezTo>
                  <a:pt x="4519" y="12517"/>
                  <a:pt x="4519" y="8699"/>
                  <a:pt x="3677" y="6339"/>
                </a:cubicBezTo>
                <a:cubicBezTo>
                  <a:pt x="3257" y="5159"/>
                  <a:pt x="2706" y="4559"/>
                  <a:pt x="2155" y="4559"/>
                </a:cubicBezTo>
                <a:close/>
              </a:path>
            </a:pathLst>
          </a:cu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29" name="Google Shape;129;p12"/>
          <p:cNvSpPr txBox="1"/>
          <p:nvPr/>
        </p:nvSpPr>
        <p:spPr>
          <a:xfrm>
            <a:off x="4062226" y="2361400"/>
            <a:ext cx="1271100" cy="621000"/>
          </a:xfrm>
          <a:prstGeom prst="rect">
            <a:avLst/>
          </a:prstGeom>
          <a:noFill/>
          <a:ln>
            <a:noFill/>
          </a:ln>
        </p:spPr>
        <p:txBody>
          <a:bodyPr anchorCtr="0" anchor="t" bIns="19050" lIns="19050" spcFirstLastPara="1" rIns="19050" wrap="square" tIns="19050">
            <a:noAutofit/>
          </a:bodyPr>
          <a:lstStyle/>
          <a:p>
            <a:pPr indent="0" lvl="0" marL="0" marR="0" rtl="0" algn="ctr">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The preprocessing was done iteratively.</a:t>
            </a:r>
            <a:endParaRPr i="0" sz="500" u="none" cap="none" strike="noStrike">
              <a:solidFill>
                <a:srgbClr val="000000"/>
              </a:solidFill>
              <a:latin typeface="Open Sans"/>
              <a:ea typeface="Open Sans"/>
              <a:cs typeface="Open Sans"/>
              <a:sym typeface="Open Sans"/>
            </a:endParaRPr>
          </a:p>
        </p:txBody>
      </p:sp>
      <p:sp>
        <p:nvSpPr>
          <p:cNvPr id="130" name="Google Shape;130;p12"/>
          <p:cNvSpPr txBox="1"/>
          <p:nvPr/>
        </p:nvSpPr>
        <p:spPr>
          <a:xfrm>
            <a:off x="6024386" y="770434"/>
            <a:ext cx="237300" cy="223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35ED6"/>
              </a:buClr>
              <a:buSzPts val="1200"/>
              <a:buFont typeface="Maven Pro Medium"/>
              <a:buNone/>
            </a:pPr>
            <a:r>
              <a:rPr b="1" i="0" lang="en" sz="1200" u="none" cap="none" strike="noStrike">
                <a:solidFill>
                  <a:srgbClr val="D00D2D"/>
                </a:solidFill>
                <a:latin typeface="Montserrat"/>
                <a:ea typeface="Montserrat"/>
                <a:cs typeface="Montserrat"/>
                <a:sym typeface="Montserrat"/>
              </a:rPr>
              <a:t>D.</a:t>
            </a:r>
            <a:endParaRPr b="1" i="0" sz="500" u="none" cap="none" strike="noStrike">
              <a:solidFill>
                <a:srgbClr val="D00D2D"/>
              </a:solidFill>
              <a:latin typeface="Montserrat"/>
              <a:ea typeface="Montserrat"/>
              <a:cs typeface="Montserrat"/>
              <a:sym typeface="Montserrat"/>
            </a:endParaRPr>
          </a:p>
        </p:txBody>
      </p:sp>
      <p:sp>
        <p:nvSpPr>
          <p:cNvPr id="131" name="Google Shape;131;p12"/>
          <p:cNvSpPr txBox="1"/>
          <p:nvPr/>
        </p:nvSpPr>
        <p:spPr>
          <a:xfrm>
            <a:off x="6274275" y="1157300"/>
            <a:ext cx="2523900" cy="11211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Python Libraries such as Seaborn, Matplotlib and Plotly were used to visualize the data so as to gain </a:t>
            </a:r>
            <a:r>
              <a:rPr lang="en" sz="1000">
                <a:solidFill>
                  <a:srgbClr val="646979"/>
                </a:solidFill>
                <a:latin typeface="Open Sans"/>
                <a:ea typeface="Open Sans"/>
                <a:cs typeface="Open Sans"/>
                <a:sym typeface="Open Sans"/>
              </a:rPr>
              <a:t>insights</a:t>
            </a:r>
            <a:r>
              <a:rPr lang="en" sz="1000">
                <a:solidFill>
                  <a:srgbClr val="646979"/>
                </a:solidFill>
                <a:latin typeface="Open Sans"/>
                <a:ea typeface="Open Sans"/>
                <a:cs typeface="Open Sans"/>
                <a:sym typeface="Open Sans"/>
              </a:rPr>
              <a:t> from the data and  </a:t>
            </a:r>
            <a:r>
              <a:rPr lang="en" sz="1000">
                <a:solidFill>
                  <a:srgbClr val="646979"/>
                </a:solidFill>
                <a:latin typeface="Open Sans"/>
                <a:ea typeface="Open Sans"/>
                <a:cs typeface="Open Sans"/>
                <a:sym typeface="Open Sans"/>
              </a:rPr>
              <a:t>identify</a:t>
            </a:r>
            <a:r>
              <a:rPr lang="en" sz="1000">
                <a:solidFill>
                  <a:srgbClr val="646979"/>
                </a:solidFill>
                <a:latin typeface="Open Sans"/>
                <a:ea typeface="Open Sans"/>
                <a:cs typeface="Open Sans"/>
                <a:sym typeface="Open Sans"/>
              </a:rPr>
              <a:t> the patterns and outliers that will  aid feature selection and model construction</a:t>
            </a:r>
            <a:endParaRPr i="0" sz="500" u="none" cap="none" strike="noStrike">
              <a:solidFill>
                <a:srgbClr val="000000"/>
              </a:solidFill>
              <a:latin typeface="Open Sans"/>
              <a:ea typeface="Open Sans"/>
              <a:cs typeface="Open Sans"/>
              <a:sym typeface="Open Sans"/>
            </a:endParaRPr>
          </a:p>
        </p:txBody>
      </p:sp>
      <p:sp>
        <p:nvSpPr>
          <p:cNvPr id="132" name="Google Shape;132;p12"/>
          <p:cNvSpPr txBox="1"/>
          <p:nvPr/>
        </p:nvSpPr>
        <p:spPr>
          <a:xfrm>
            <a:off x="6266375" y="844475"/>
            <a:ext cx="2395200" cy="223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200"/>
              <a:buFont typeface="Maven Pro Medium"/>
              <a:buNone/>
            </a:pPr>
            <a:r>
              <a:rPr b="1" lang="en" sz="1200">
                <a:solidFill>
                  <a:srgbClr val="002E6D"/>
                </a:solidFill>
                <a:latin typeface="Montserrat"/>
                <a:ea typeface="Montserrat"/>
                <a:cs typeface="Montserrat"/>
                <a:sym typeface="Montserrat"/>
              </a:rPr>
              <a:t>Identifying Patterns and </a:t>
            </a:r>
            <a:r>
              <a:rPr b="1" lang="en" sz="1200">
                <a:solidFill>
                  <a:srgbClr val="002E6D"/>
                </a:solidFill>
                <a:latin typeface="Montserrat"/>
                <a:ea typeface="Montserrat"/>
                <a:cs typeface="Montserrat"/>
                <a:sym typeface="Montserrat"/>
              </a:rPr>
              <a:t>Outliers</a:t>
            </a:r>
            <a:endParaRPr b="1" i="0" sz="500" u="none" cap="none" strike="noStrike">
              <a:solidFill>
                <a:srgbClr val="002E6D"/>
              </a:solidFill>
              <a:latin typeface="Montserrat"/>
              <a:ea typeface="Montserrat"/>
              <a:cs typeface="Montserrat"/>
              <a:sym typeface="Montserrat"/>
            </a:endParaRPr>
          </a:p>
        </p:txBody>
      </p:sp>
      <p:sp>
        <p:nvSpPr>
          <p:cNvPr id="133" name="Google Shape;133;p12"/>
          <p:cNvSpPr txBox="1"/>
          <p:nvPr/>
        </p:nvSpPr>
        <p:spPr>
          <a:xfrm>
            <a:off x="6024386" y="2561135"/>
            <a:ext cx="237300" cy="223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35ED6"/>
              </a:buClr>
              <a:buSzPts val="1200"/>
              <a:buFont typeface="Maven Pro Medium"/>
              <a:buNone/>
            </a:pPr>
            <a:r>
              <a:rPr b="1" i="0" lang="en" sz="1200" u="none" cap="none" strike="noStrike">
                <a:solidFill>
                  <a:srgbClr val="D00D2D"/>
                </a:solidFill>
                <a:latin typeface="Montserrat"/>
                <a:ea typeface="Montserrat"/>
                <a:cs typeface="Montserrat"/>
                <a:sym typeface="Montserrat"/>
              </a:rPr>
              <a:t>E.</a:t>
            </a:r>
            <a:endParaRPr b="1" i="0" sz="500" u="none" cap="none" strike="noStrike">
              <a:solidFill>
                <a:srgbClr val="D00D2D"/>
              </a:solidFill>
              <a:latin typeface="Montserrat"/>
              <a:ea typeface="Montserrat"/>
              <a:cs typeface="Montserrat"/>
              <a:sym typeface="Montserrat"/>
            </a:endParaRPr>
          </a:p>
        </p:txBody>
      </p:sp>
      <p:sp>
        <p:nvSpPr>
          <p:cNvPr id="134" name="Google Shape;134;p12"/>
          <p:cNvSpPr txBox="1"/>
          <p:nvPr/>
        </p:nvSpPr>
        <p:spPr>
          <a:xfrm>
            <a:off x="6274275" y="2871800"/>
            <a:ext cx="2680200" cy="16983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The transport.csv and causativefactors.csv were merged together with the Pandas merge() function. The causativefactors.csv is the complementary dataset that was used to enhance the performance of the models. This can be seen in how the accuracy of the NN model became more realistic after changing the test data to the augmented dataset.</a:t>
            </a:r>
            <a:endParaRPr i="0" sz="500" u="none" cap="none" strike="noStrike">
              <a:solidFill>
                <a:srgbClr val="000000"/>
              </a:solidFill>
              <a:latin typeface="Open Sans"/>
              <a:ea typeface="Open Sans"/>
              <a:cs typeface="Open Sans"/>
              <a:sym typeface="Open Sans"/>
            </a:endParaRPr>
          </a:p>
        </p:txBody>
      </p:sp>
      <p:sp>
        <p:nvSpPr>
          <p:cNvPr id="135" name="Google Shape;135;p12"/>
          <p:cNvSpPr txBox="1"/>
          <p:nvPr/>
        </p:nvSpPr>
        <p:spPr>
          <a:xfrm>
            <a:off x="6291075" y="2563175"/>
            <a:ext cx="2104800" cy="2190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200"/>
              <a:buFont typeface="Maven Pro Medium"/>
              <a:buNone/>
            </a:pPr>
            <a:r>
              <a:rPr b="1" lang="en" sz="1200">
                <a:solidFill>
                  <a:srgbClr val="002E6D"/>
                </a:solidFill>
                <a:latin typeface="Montserrat"/>
                <a:ea typeface="Montserrat"/>
                <a:cs typeface="Montserrat"/>
                <a:sym typeface="Montserrat"/>
              </a:rPr>
              <a:t>Data Augmentation and Integration</a:t>
            </a:r>
            <a:endParaRPr b="1" i="0" sz="500" u="none" cap="none" strike="noStrike">
              <a:solidFill>
                <a:srgbClr val="002E6D"/>
              </a:solidFill>
              <a:latin typeface="Montserrat"/>
              <a:ea typeface="Montserrat"/>
              <a:cs typeface="Montserrat"/>
              <a:sym typeface="Montserrat"/>
            </a:endParaRPr>
          </a:p>
        </p:txBody>
      </p:sp>
      <p:sp>
        <p:nvSpPr>
          <p:cNvPr id="136" name="Google Shape;136;p12"/>
          <p:cNvSpPr txBox="1"/>
          <p:nvPr/>
        </p:nvSpPr>
        <p:spPr>
          <a:xfrm>
            <a:off x="440347" y="839967"/>
            <a:ext cx="237300" cy="223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35ED6"/>
              </a:buClr>
              <a:buSzPts val="1200"/>
              <a:buFont typeface="Maven Pro Medium"/>
              <a:buNone/>
            </a:pPr>
            <a:r>
              <a:rPr b="1" lang="en" sz="1200">
                <a:solidFill>
                  <a:srgbClr val="D00D2D"/>
                </a:solidFill>
                <a:latin typeface="Montserrat"/>
                <a:ea typeface="Montserrat"/>
                <a:cs typeface="Montserrat"/>
                <a:sym typeface="Montserrat"/>
              </a:rPr>
              <a:t>A.</a:t>
            </a:r>
            <a:endParaRPr b="1" i="0" sz="500" u="none" cap="none" strike="noStrike">
              <a:solidFill>
                <a:srgbClr val="D00D2D"/>
              </a:solidFill>
              <a:latin typeface="Montserrat"/>
              <a:ea typeface="Montserrat"/>
              <a:cs typeface="Montserrat"/>
              <a:sym typeface="Montserrat"/>
            </a:endParaRPr>
          </a:p>
        </p:txBody>
      </p:sp>
      <p:sp>
        <p:nvSpPr>
          <p:cNvPr id="137" name="Google Shape;137;p12"/>
          <p:cNvSpPr txBox="1"/>
          <p:nvPr/>
        </p:nvSpPr>
        <p:spPr>
          <a:xfrm>
            <a:off x="537850" y="1150625"/>
            <a:ext cx="2358900" cy="14211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The road traffic accident and causative factors dataset gotten from the Nigerian Bureau of </a:t>
            </a:r>
            <a:r>
              <a:rPr lang="en" sz="1000">
                <a:solidFill>
                  <a:srgbClr val="646979"/>
                </a:solidFill>
                <a:latin typeface="Open Sans"/>
                <a:ea typeface="Open Sans"/>
                <a:cs typeface="Open Sans"/>
                <a:sym typeface="Open Sans"/>
              </a:rPr>
              <a:t>Statistics</a:t>
            </a:r>
            <a:r>
              <a:rPr lang="en" sz="1000">
                <a:solidFill>
                  <a:srgbClr val="646979"/>
                </a:solidFill>
                <a:latin typeface="Open Sans"/>
                <a:ea typeface="Open Sans"/>
                <a:cs typeface="Open Sans"/>
                <a:sym typeface="Open Sans"/>
              </a:rPr>
              <a:t> contain different tables with repeated columns. These tables were merged by the state column facilitating more effective predictive modeling with a streamlined and manageable structure</a:t>
            </a:r>
            <a:endParaRPr i="0" sz="500" u="none" cap="none" strike="noStrike">
              <a:solidFill>
                <a:srgbClr val="000000"/>
              </a:solidFill>
              <a:latin typeface="Open Sans"/>
              <a:ea typeface="Open Sans"/>
              <a:cs typeface="Open Sans"/>
              <a:sym typeface="Open Sans"/>
            </a:endParaRPr>
          </a:p>
        </p:txBody>
      </p:sp>
      <p:sp>
        <p:nvSpPr>
          <p:cNvPr id="138" name="Google Shape;138;p12"/>
          <p:cNvSpPr txBox="1"/>
          <p:nvPr/>
        </p:nvSpPr>
        <p:spPr>
          <a:xfrm>
            <a:off x="707051" y="842000"/>
            <a:ext cx="1580100" cy="2190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200"/>
              <a:buFont typeface="Maven Pro Medium"/>
              <a:buNone/>
            </a:pPr>
            <a:r>
              <a:rPr b="1" lang="en" sz="1200">
                <a:solidFill>
                  <a:srgbClr val="002E6D"/>
                </a:solidFill>
                <a:latin typeface="Montserrat"/>
                <a:ea typeface="Montserrat"/>
                <a:cs typeface="Montserrat"/>
                <a:sym typeface="Montserrat"/>
              </a:rPr>
              <a:t>Data Consolidation</a:t>
            </a:r>
            <a:endParaRPr b="1" i="0" sz="500" u="none" cap="none" strike="noStrike">
              <a:solidFill>
                <a:srgbClr val="002E6D"/>
              </a:solidFill>
              <a:latin typeface="Montserrat"/>
              <a:ea typeface="Montserrat"/>
              <a:cs typeface="Montserrat"/>
              <a:sym typeface="Montserrat"/>
            </a:endParaRPr>
          </a:p>
        </p:txBody>
      </p:sp>
      <p:sp>
        <p:nvSpPr>
          <p:cNvPr id="139" name="Google Shape;139;p12"/>
          <p:cNvSpPr txBox="1"/>
          <p:nvPr/>
        </p:nvSpPr>
        <p:spPr>
          <a:xfrm>
            <a:off x="364147" y="2706867"/>
            <a:ext cx="237300" cy="2232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635ED6"/>
              </a:buClr>
              <a:buSzPts val="1200"/>
              <a:buFont typeface="Maven Pro Medium"/>
              <a:buNone/>
            </a:pPr>
            <a:r>
              <a:rPr b="1" lang="en" sz="1200">
                <a:solidFill>
                  <a:srgbClr val="D00D2D"/>
                </a:solidFill>
                <a:latin typeface="Montserrat"/>
                <a:ea typeface="Montserrat"/>
                <a:cs typeface="Montserrat"/>
                <a:sym typeface="Montserrat"/>
              </a:rPr>
              <a:t>B</a:t>
            </a:r>
            <a:r>
              <a:rPr b="1" i="0" lang="en" sz="1200" u="none" cap="none" strike="noStrike">
                <a:solidFill>
                  <a:srgbClr val="D00D2D"/>
                </a:solidFill>
                <a:latin typeface="Montserrat"/>
                <a:ea typeface="Montserrat"/>
                <a:cs typeface="Montserrat"/>
                <a:sym typeface="Montserrat"/>
              </a:rPr>
              <a:t>.</a:t>
            </a:r>
            <a:endParaRPr b="1" i="0" sz="500" u="none" cap="none" strike="noStrike">
              <a:solidFill>
                <a:srgbClr val="D00D2D"/>
              </a:solidFill>
              <a:latin typeface="Montserrat"/>
              <a:ea typeface="Montserrat"/>
              <a:cs typeface="Montserrat"/>
              <a:sym typeface="Montserrat"/>
            </a:endParaRPr>
          </a:p>
        </p:txBody>
      </p:sp>
      <p:sp>
        <p:nvSpPr>
          <p:cNvPr id="140" name="Google Shape;140;p12"/>
          <p:cNvSpPr txBox="1"/>
          <p:nvPr/>
        </p:nvSpPr>
        <p:spPr>
          <a:xfrm>
            <a:off x="567400" y="3065075"/>
            <a:ext cx="2312400" cy="8268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After the datasets were imported using Pandas and consolidated, Pandas functions </a:t>
            </a:r>
            <a:r>
              <a:rPr lang="en" sz="1000">
                <a:solidFill>
                  <a:srgbClr val="646979"/>
                </a:solidFill>
                <a:latin typeface="Open Sans"/>
                <a:ea typeface="Open Sans"/>
                <a:cs typeface="Open Sans"/>
                <a:sym typeface="Open Sans"/>
              </a:rPr>
              <a:t> such as info() </a:t>
            </a:r>
            <a:r>
              <a:rPr lang="en" sz="1000">
                <a:solidFill>
                  <a:srgbClr val="646979"/>
                </a:solidFill>
                <a:latin typeface="Open Sans"/>
                <a:ea typeface="Open Sans"/>
                <a:cs typeface="Open Sans"/>
                <a:sym typeface="Open Sans"/>
              </a:rPr>
              <a:t> were used to understand the dataset structure, type, number of rows and columns, sum of missing values, etc.</a:t>
            </a:r>
            <a:endParaRPr i="0" sz="500" u="none" cap="none" strike="noStrike">
              <a:solidFill>
                <a:srgbClr val="000000"/>
              </a:solidFill>
              <a:latin typeface="Open Sans"/>
              <a:ea typeface="Open Sans"/>
              <a:cs typeface="Open Sans"/>
              <a:sym typeface="Open Sans"/>
            </a:endParaRPr>
          </a:p>
        </p:txBody>
      </p:sp>
      <p:sp>
        <p:nvSpPr>
          <p:cNvPr id="141" name="Google Shape;141;p12"/>
          <p:cNvSpPr txBox="1"/>
          <p:nvPr/>
        </p:nvSpPr>
        <p:spPr>
          <a:xfrm>
            <a:off x="614050" y="2708900"/>
            <a:ext cx="2523900" cy="2190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200"/>
              <a:buFont typeface="Maven Pro Medium"/>
              <a:buNone/>
            </a:pPr>
            <a:r>
              <a:rPr b="1" lang="en" sz="1200">
                <a:solidFill>
                  <a:srgbClr val="002E6D"/>
                </a:solidFill>
                <a:latin typeface="Montserrat"/>
                <a:ea typeface="Montserrat"/>
                <a:cs typeface="Montserrat"/>
                <a:sym typeface="Montserrat"/>
              </a:rPr>
              <a:t>Understanding the Data</a:t>
            </a:r>
            <a:endParaRPr b="1" i="0" sz="500" u="none" cap="none" strike="noStrike">
              <a:solidFill>
                <a:srgbClr val="002E6D"/>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idx="2" type="subTitle"/>
          </p:nvPr>
        </p:nvSpPr>
        <p:spPr>
          <a:xfrm>
            <a:off x="119675" y="612825"/>
            <a:ext cx="4940400" cy="39201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b="1" lang="en" sz="1300">
                <a:solidFill>
                  <a:srgbClr val="758592"/>
                </a:solidFill>
                <a:latin typeface="Proxima Nova"/>
                <a:ea typeface="Proxima Nova"/>
                <a:cs typeface="Proxima Nova"/>
                <a:sym typeface="Proxima Nova"/>
              </a:rPr>
              <a:t>Construction:</a:t>
            </a:r>
            <a:endParaRPr b="1" sz="1300">
              <a:solidFill>
                <a:srgbClr val="758592"/>
              </a:solidFill>
              <a:latin typeface="Proxima Nova"/>
              <a:ea typeface="Proxima Nova"/>
              <a:cs typeface="Proxima Nova"/>
              <a:sym typeface="Proxima Nova"/>
            </a:endParaRPr>
          </a:p>
          <a:p>
            <a:pPr indent="-298450" lvl="0" marL="457200" rtl="0" algn="l">
              <a:lnSpc>
                <a:spcPct val="100000"/>
              </a:lnSpc>
              <a:spcBef>
                <a:spcPts val="120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Data Split:</a:t>
            </a:r>
            <a:r>
              <a:rPr lang="en" sz="1100">
                <a:solidFill>
                  <a:srgbClr val="758592"/>
                </a:solidFill>
                <a:latin typeface="Proxima Nova"/>
                <a:ea typeface="Proxima Nova"/>
                <a:cs typeface="Proxima Nova"/>
                <a:sym typeface="Proxima Nova"/>
              </a:rPr>
              <a:t> The dataset was divided into training and testing sets using the train_test_split function, allocating 80% for training and 20% for testing.</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Kernel Selection: </a:t>
            </a:r>
            <a:r>
              <a:rPr lang="en" sz="1100">
                <a:solidFill>
                  <a:srgbClr val="758592"/>
                </a:solidFill>
                <a:latin typeface="Proxima Nova"/>
                <a:ea typeface="Proxima Nova"/>
                <a:cs typeface="Proxima Nova"/>
                <a:sym typeface="Proxima Nova"/>
              </a:rPr>
              <a:t>The choice of the appropriate kernel is crucial. T</a:t>
            </a:r>
            <a:r>
              <a:rPr lang="en" sz="1100">
                <a:solidFill>
                  <a:srgbClr val="758592"/>
                </a:solidFill>
                <a:latin typeface="Proxima Nova"/>
                <a:ea typeface="Proxima Nova"/>
                <a:cs typeface="Proxima Nova"/>
                <a:sym typeface="Proxima Nova"/>
              </a:rPr>
              <a:t>hree types</a:t>
            </a:r>
            <a:r>
              <a:rPr lang="en" sz="1100">
                <a:solidFill>
                  <a:srgbClr val="758592"/>
                </a:solidFill>
                <a:latin typeface="Proxima Nova"/>
                <a:ea typeface="Proxima Nova"/>
                <a:cs typeface="Proxima Nova"/>
                <a:sym typeface="Proxima Nova"/>
              </a:rPr>
              <a:t> explored: Linear, Radial Basis Function (RBF), and Polynomial, each with distinct characteristics.</a:t>
            </a:r>
            <a:endParaRPr sz="1100">
              <a:solidFill>
                <a:srgbClr val="758592"/>
              </a:solidFill>
              <a:latin typeface="Proxima Nova"/>
              <a:ea typeface="Proxima Nova"/>
              <a:cs typeface="Proxima Nova"/>
              <a:sym typeface="Proxima Nova"/>
            </a:endParaRPr>
          </a:p>
          <a:p>
            <a:pPr indent="0" lvl="0" marL="0" rtl="0" algn="l">
              <a:lnSpc>
                <a:spcPct val="100000"/>
              </a:lnSpc>
              <a:spcBef>
                <a:spcPts val="1200"/>
              </a:spcBef>
              <a:spcAft>
                <a:spcPts val="0"/>
              </a:spcAft>
              <a:buClr>
                <a:schemeClr val="dk1"/>
              </a:buClr>
              <a:buSzPts val="1100"/>
              <a:buFont typeface="Arial"/>
              <a:buNone/>
            </a:pPr>
            <a:r>
              <a:rPr b="1" lang="en" sz="1300">
                <a:solidFill>
                  <a:srgbClr val="758592"/>
                </a:solidFill>
                <a:latin typeface="Proxima Nova"/>
                <a:ea typeface="Proxima Nova"/>
                <a:cs typeface="Proxima Nova"/>
                <a:sym typeface="Proxima Nova"/>
              </a:rPr>
              <a:t>Tuning:</a:t>
            </a:r>
            <a:endParaRPr b="1" sz="1300">
              <a:solidFill>
                <a:srgbClr val="758592"/>
              </a:solidFill>
              <a:latin typeface="Proxima Nova"/>
              <a:ea typeface="Proxima Nova"/>
              <a:cs typeface="Proxima Nova"/>
              <a:sym typeface="Proxima Nova"/>
            </a:endParaRPr>
          </a:p>
          <a:p>
            <a:pPr indent="-298450" lvl="0" marL="457200" rtl="0" algn="l">
              <a:lnSpc>
                <a:spcPct val="100000"/>
              </a:lnSpc>
              <a:spcBef>
                <a:spcPts val="120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Hyperparameter Tuning:</a:t>
            </a:r>
            <a:r>
              <a:rPr lang="en" sz="1100">
                <a:solidFill>
                  <a:srgbClr val="758592"/>
                </a:solidFill>
                <a:latin typeface="Proxima Nova"/>
                <a:ea typeface="Proxima Nova"/>
                <a:cs typeface="Proxima Nova"/>
                <a:sym typeface="Proxima Nova"/>
              </a:rPr>
              <a:t> Systematically adjusted hyperparameters, including C (regularization parameter) and gamma (kernel coefficient), optimizing the model's performance.</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Grid Search: </a:t>
            </a:r>
            <a:r>
              <a:rPr lang="en" sz="1100">
                <a:solidFill>
                  <a:srgbClr val="758592"/>
                </a:solidFill>
                <a:latin typeface="Proxima Nova"/>
                <a:ea typeface="Proxima Nova"/>
                <a:cs typeface="Proxima Nova"/>
                <a:sym typeface="Proxima Nova"/>
              </a:rPr>
              <a:t>Employed Grid Search to explore multiple hyperparameter combinations and determine the set that yields the best results.</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Impact of Tuning:</a:t>
            </a:r>
            <a:r>
              <a:rPr lang="en" sz="1100">
                <a:solidFill>
                  <a:srgbClr val="758592"/>
                </a:solidFill>
                <a:latin typeface="Proxima Nova"/>
                <a:ea typeface="Proxima Nova"/>
                <a:cs typeface="Proxima Nova"/>
                <a:sym typeface="Proxima Nova"/>
              </a:rPr>
              <a:t> Tuning significantly influenced model performance, with notable improvements observed in metrics such as Mean Squared Error, Root Mean Squared Error, R-squared, and Mean Absolute Error. The process enhanced the SVM model's ability to capture patterns and make accurate predictions on the dataset</a:t>
            </a:r>
            <a:r>
              <a:rPr lang="en" sz="1100">
                <a:solidFill>
                  <a:srgbClr val="758592"/>
                </a:solidFill>
                <a:latin typeface="Proxima Nova"/>
                <a:ea typeface="Proxima Nova"/>
                <a:cs typeface="Proxima Nova"/>
                <a:sym typeface="Proxima Nova"/>
              </a:rPr>
              <a:t>.</a:t>
            </a:r>
            <a:endParaRPr sz="1100">
              <a:solidFill>
                <a:srgbClr val="758592"/>
              </a:solidFill>
              <a:latin typeface="Proxima Nova"/>
              <a:ea typeface="Proxima Nova"/>
              <a:cs typeface="Proxima Nova"/>
              <a:sym typeface="Proxima Nova"/>
            </a:endParaRPr>
          </a:p>
          <a:p>
            <a:pPr indent="0" lvl="0" marL="0" rtl="0" algn="l">
              <a:lnSpc>
                <a:spcPct val="100000"/>
              </a:lnSpc>
              <a:spcBef>
                <a:spcPts val="1200"/>
              </a:spcBef>
              <a:spcAft>
                <a:spcPts val="0"/>
              </a:spcAft>
              <a:buNone/>
            </a:pPr>
            <a:r>
              <a:t/>
            </a:r>
            <a:endParaRPr/>
          </a:p>
        </p:txBody>
      </p:sp>
      <p:sp>
        <p:nvSpPr>
          <p:cNvPr id="147" name="Google Shape;147;p13"/>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Construction and Tuning (SVM)</a:t>
            </a:r>
            <a:endParaRPr/>
          </a:p>
        </p:txBody>
      </p:sp>
      <p:pic>
        <p:nvPicPr>
          <p:cNvPr id="148" name="Google Shape;148;p13"/>
          <p:cNvPicPr preferRelativeResize="0"/>
          <p:nvPr/>
        </p:nvPicPr>
        <p:blipFill>
          <a:blip r:embed="rId3">
            <a:alphaModFix/>
          </a:blip>
          <a:stretch>
            <a:fillRect/>
          </a:stretch>
        </p:blipFill>
        <p:spPr>
          <a:xfrm>
            <a:off x="5525375" y="827150"/>
            <a:ext cx="3218600" cy="3618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2" type="subTitle"/>
          </p:nvPr>
        </p:nvSpPr>
        <p:spPr>
          <a:xfrm>
            <a:off x="321375" y="876475"/>
            <a:ext cx="4926600" cy="3376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300">
                <a:solidFill>
                  <a:srgbClr val="758592"/>
                </a:solidFill>
                <a:latin typeface="Proxima Nova"/>
                <a:ea typeface="Proxima Nova"/>
                <a:cs typeface="Proxima Nova"/>
                <a:sym typeface="Proxima Nova"/>
              </a:rPr>
              <a:t>Construction:</a:t>
            </a:r>
            <a:endParaRPr b="1" sz="13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Data Split:</a:t>
            </a:r>
            <a:r>
              <a:rPr lang="en" sz="1100">
                <a:solidFill>
                  <a:srgbClr val="758592"/>
                </a:solidFill>
                <a:latin typeface="Proxima Nova"/>
                <a:ea typeface="Proxima Nova"/>
                <a:cs typeface="Proxima Nova"/>
                <a:sym typeface="Proxima Nova"/>
              </a:rPr>
              <a:t> Utilized the train_test_split function to segregate the dataset into training and testing sets, allocating 80% for training and 20% for testing.</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Model Architecture: </a:t>
            </a:r>
            <a:r>
              <a:rPr lang="en" sz="1100">
                <a:solidFill>
                  <a:srgbClr val="758592"/>
                </a:solidFill>
                <a:latin typeface="Proxima Nova"/>
                <a:ea typeface="Proxima Nova"/>
                <a:cs typeface="Proxima Nova"/>
                <a:sym typeface="Proxima Nova"/>
              </a:rPr>
              <a:t>Constructed a Neural Network with an initial architecture involving input, hidden, and output layers. Adjusted the number of neurons, layers, and activation functions to capture the dataset's complexity.</a:t>
            </a:r>
            <a:endParaRPr sz="1100">
              <a:solidFill>
                <a:srgbClr val="758592"/>
              </a:solidFill>
              <a:latin typeface="Proxima Nova"/>
              <a:ea typeface="Proxima Nova"/>
              <a:cs typeface="Proxima Nova"/>
              <a:sym typeface="Proxima Nova"/>
            </a:endParaRPr>
          </a:p>
          <a:p>
            <a:pPr indent="0" lvl="0" marL="0" rtl="0" algn="l">
              <a:lnSpc>
                <a:spcPct val="100000"/>
              </a:lnSpc>
              <a:spcBef>
                <a:spcPts val="0"/>
              </a:spcBef>
              <a:spcAft>
                <a:spcPts val="0"/>
              </a:spcAft>
              <a:buClr>
                <a:schemeClr val="dk1"/>
              </a:buClr>
              <a:buSzPts val="1100"/>
              <a:buFont typeface="Arial"/>
              <a:buNone/>
            </a:pPr>
            <a:r>
              <a:rPr b="1" lang="en" sz="1300">
                <a:solidFill>
                  <a:srgbClr val="758592"/>
                </a:solidFill>
                <a:latin typeface="Proxima Nova"/>
                <a:ea typeface="Proxima Nova"/>
                <a:cs typeface="Proxima Nova"/>
                <a:sym typeface="Proxima Nova"/>
              </a:rPr>
              <a:t>Tuning:</a:t>
            </a:r>
            <a:endParaRPr b="1" sz="13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Hyperparameter Tuning: </a:t>
            </a:r>
            <a:r>
              <a:rPr lang="en" sz="1100">
                <a:solidFill>
                  <a:srgbClr val="758592"/>
                </a:solidFill>
                <a:latin typeface="Proxima Nova"/>
                <a:ea typeface="Proxima Nova"/>
                <a:cs typeface="Proxima Nova"/>
                <a:sym typeface="Proxima Nova"/>
              </a:rPr>
              <a:t>Focused on tuning critical parameters such as learning rate, batch size, and epochs to optimize the model's learning process and convergence.</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Augmentation:</a:t>
            </a:r>
            <a:r>
              <a:rPr lang="en" sz="1100">
                <a:solidFill>
                  <a:srgbClr val="758592"/>
                </a:solidFill>
                <a:latin typeface="Proxima Nova"/>
                <a:ea typeface="Proxima Nova"/>
                <a:cs typeface="Proxima Nova"/>
                <a:sym typeface="Proxima Nova"/>
              </a:rPr>
              <a:t> Implemented data augmentation techniques to enhance the model's ability to generalize and recognize diverse patterns in the dataset.</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Arial"/>
              <a:buChar char="●"/>
            </a:pPr>
            <a:r>
              <a:rPr b="1" lang="en" sz="1100">
                <a:solidFill>
                  <a:srgbClr val="758592"/>
                </a:solidFill>
                <a:latin typeface="Proxima Nova"/>
                <a:ea typeface="Proxima Nova"/>
                <a:cs typeface="Proxima Nova"/>
                <a:sym typeface="Proxima Nova"/>
              </a:rPr>
              <a:t>Impact of Tuning:</a:t>
            </a:r>
            <a:r>
              <a:rPr lang="en" sz="1100">
                <a:solidFill>
                  <a:srgbClr val="758592"/>
                </a:solidFill>
                <a:latin typeface="Proxima Nova"/>
                <a:ea typeface="Proxima Nova"/>
                <a:cs typeface="Proxima Nova"/>
                <a:sym typeface="Proxima Nova"/>
              </a:rPr>
              <a:t> The tuning process led to significant improvements in the model's overall performance, as reflected in metrics such as Test Loss, Accuracy, Precision, Recall, and F1 Score.</a:t>
            </a:r>
            <a:endParaRPr/>
          </a:p>
        </p:txBody>
      </p:sp>
      <p:sp>
        <p:nvSpPr>
          <p:cNvPr id="154" name="Google Shape;154;p14"/>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Construction and Tuning (Neural Network)</a:t>
            </a:r>
            <a:endParaRPr/>
          </a:p>
        </p:txBody>
      </p:sp>
      <p:pic>
        <p:nvPicPr>
          <p:cNvPr id="155" name="Google Shape;155;p14"/>
          <p:cNvPicPr preferRelativeResize="0"/>
          <p:nvPr/>
        </p:nvPicPr>
        <p:blipFill>
          <a:blip r:embed="rId3">
            <a:alphaModFix/>
          </a:blip>
          <a:stretch>
            <a:fillRect/>
          </a:stretch>
        </p:blipFill>
        <p:spPr>
          <a:xfrm>
            <a:off x="5486850" y="863275"/>
            <a:ext cx="3257125" cy="3623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Evaluation (SVM)</a:t>
            </a:r>
            <a:endParaRPr/>
          </a:p>
        </p:txBody>
      </p:sp>
      <p:graphicFrame>
        <p:nvGraphicFramePr>
          <p:cNvPr id="161" name="Google Shape;161;p15"/>
          <p:cNvGraphicFramePr/>
          <p:nvPr/>
        </p:nvGraphicFramePr>
        <p:xfrm>
          <a:off x="662525" y="517900"/>
          <a:ext cx="3000000" cy="3000000"/>
        </p:xfrm>
        <a:graphic>
          <a:graphicData uri="http://schemas.openxmlformats.org/drawingml/2006/table">
            <a:tbl>
              <a:tblPr>
                <a:noFill/>
                <a:tableStyleId>{37E8182B-C4DA-4069-8877-F8A529ACC76D}</a:tableStyleId>
              </a:tblPr>
              <a:tblGrid>
                <a:gridCol w="1152300"/>
                <a:gridCol w="1920475"/>
                <a:gridCol w="1536375"/>
                <a:gridCol w="1536375"/>
                <a:gridCol w="1536375"/>
              </a:tblGrid>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Metrics</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SVM Model 1 (Linear)</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SVM Model 1 (RBF)</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SVM Tuned  Model (Linear)</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SVM  Tuned Model (RBF)</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Mean Squared Error</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0.62397</a:t>
                      </a:r>
                      <a:endParaRPr sz="700">
                        <a:solidFill>
                          <a:srgbClr val="FFFFFF"/>
                        </a:solidFill>
                        <a:latin typeface="Proxima Nova"/>
                        <a:ea typeface="Proxima Nova"/>
                        <a:cs typeface="Proxima Nova"/>
                        <a:sym typeface="Proxima Nova"/>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709377.32</a:t>
                      </a:r>
                      <a:endParaRPr sz="700">
                        <a:solidFill>
                          <a:srgbClr val="FFFFFF"/>
                        </a:solidFill>
                        <a:latin typeface="Proxima Nova"/>
                        <a:ea typeface="Proxima Nova"/>
                        <a:cs typeface="Proxima Nova"/>
                        <a:sym typeface="Proxima Nova"/>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0.62397</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684615.95</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Root Mean Squared Error</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0.78992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842.25</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0.78992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827.42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R-squared</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0.999998</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 -1.06535</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0.999998</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 -0.99325</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Mean Absolute Error</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0.60402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 631.10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0.60402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614.19</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bl>
          </a:graphicData>
        </a:graphic>
      </p:graphicFrame>
      <p:sp>
        <p:nvSpPr>
          <p:cNvPr id="162" name="Google Shape;162;p15"/>
          <p:cNvSpPr txBox="1"/>
          <p:nvPr/>
        </p:nvSpPr>
        <p:spPr>
          <a:xfrm>
            <a:off x="684175" y="2793725"/>
            <a:ext cx="8148900" cy="1878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solidFill>
                  <a:srgbClr val="758592"/>
                </a:solidFill>
                <a:latin typeface="Proxima Nova"/>
                <a:ea typeface="Proxima Nova"/>
                <a:cs typeface="Proxima Nova"/>
                <a:sym typeface="Proxima Nova"/>
              </a:rPr>
              <a:t>Evaluation and Comparison:</a:t>
            </a:r>
            <a:endParaRPr b="1"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linear kernel exhibits exceptional performance, showcasing minimal differences between the initial and tuned models.</a:t>
            </a:r>
            <a:endParaRPr sz="1100">
              <a:solidFill>
                <a:srgbClr val="758592"/>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RBF kernel's tuning led to a substantial reduction in Mean Squared Error, Root Mean Squared Error, and Mean Absolute Error, indicating improved accuracy and precision.</a:t>
            </a:r>
            <a:endParaRPr sz="1100">
              <a:solidFill>
                <a:srgbClr val="758592"/>
              </a:solidFill>
              <a:latin typeface="Proxima Nova"/>
              <a:ea typeface="Proxima Nova"/>
              <a:cs typeface="Proxima Nova"/>
              <a:sym typeface="Proxima Nova"/>
            </a:endParaRPr>
          </a:p>
          <a:p>
            <a:pPr indent="-298450" lvl="0" marL="457200" marR="0" rtl="0" algn="l">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Tuning, especially in the RBF case, significantly mitigated the overfitting observed in the initial models.</a:t>
            </a:r>
            <a:endParaRPr sz="1100">
              <a:solidFill>
                <a:srgbClr val="758592"/>
              </a:solidFill>
              <a:latin typeface="Proxima Nova"/>
              <a:ea typeface="Proxima Nova"/>
              <a:cs typeface="Proxima Nova"/>
              <a:sym typeface="Proxima Nova"/>
            </a:endParaRPr>
          </a:p>
          <a:p>
            <a:pPr indent="-298450" lvl="0" marL="457200" marR="0" rtl="0" algn="l">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tuned models exhibit improved performance, particularly in the RBF kernel, demonstrating the efficacy of hyperparameter tuning in refining SVM model outcomes.</a:t>
            </a:r>
            <a:endParaRPr sz="1100">
              <a:solidFill>
                <a:srgbClr val="758592"/>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lang="en" sz="1100">
                <a:solidFill>
                  <a:srgbClr val="758592"/>
                </a:solidFill>
                <a:latin typeface="Proxima Nova"/>
                <a:ea typeface="Proxima Nova"/>
                <a:cs typeface="Proxima Nova"/>
                <a:sym typeface="Proxima Nova"/>
              </a:rPr>
              <a:t>This comprehensive evaluation provides insights into the impact of different kernels and tuning on the SVM models' performance, aiding in the selection of an optimal model for the given dataset.</a:t>
            </a:r>
            <a:endParaRPr sz="1100">
              <a:solidFill>
                <a:srgbClr val="758592"/>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Evaluation (Neural Network)</a:t>
            </a:r>
            <a:endParaRPr/>
          </a:p>
        </p:txBody>
      </p:sp>
      <p:graphicFrame>
        <p:nvGraphicFramePr>
          <p:cNvPr id="168" name="Google Shape;168;p16"/>
          <p:cNvGraphicFramePr/>
          <p:nvPr/>
        </p:nvGraphicFramePr>
        <p:xfrm>
          <a:off x="4134825" y="562550"/>
          <a:ext cx="3000000" cy="3000000"/>
        </p:xfrm>
        <a:graphic>
          <a:graphicData uri="http://schemas.openxmlformats.org/drawingml/2006/table">
            <a:tbl>
              <a:tblPr>
                <a:noFill/>
                <a:tableStyleId>{37E8182B-C4DA-4069-8877-F8A529ACC76D}</a:tableStyleId>
              </a:tblPr>
              <a:tblGrid>
                <a:gridCol w="1152300"/>
                <a:gridCol w="1920475"/>
                <a:gridCol w="1536375"/>
              </a:tblGrid>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Metrics</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NN </a:t>
                      </a:r>
                      <a:r>
                        <a:rPr b="1" lang="en" sz="800">
                          <a:solidFill>
                            <a:srgbClr val="FFFFFF"/>
                          </a:solidFill>
                          <a:latin typeface="Montserrat"/>
                          <a:ea typeface="Montserrat"/>
                          <a:cs typeface="Montserrat"/>
                          <a:sym typeface="Montserrat"/>
                        </a:rPr>
                        <a:t>Model 1</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NN </a:t>
                      </a:r>
                      <a:r>
                        <a:rPr b="1" lang="en" sz="800">
                          <a:solidFill>
                            <a:srgbClr val="FFFFFF"/>
                          </a:solidFill>
                          <a:latin typeface="Montserrat"/>
                          <a:ea typeface="Montserrat"/>
                          <a:cs typeface="Montserrat"/>
                          <a:sym typeface="Montserrat"/>
                        </a:rPr>
                        <a:t> Tuned Model</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Test Loss</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1057.49</a:t>
                      </a:r>
                      <a:endParaRPr sz="700">
                        <a:solidFill>
                          <a:srgbClr val="FFFFFF"/>
                        </a:solidFill>
                        <a:latin typeface="Proxima Nova"/>
                        <a:ea typeface="Proxima Nova"/>
                        <a:cs typeface="Proxima Nova"/>
                        <a:sym typeface="Proxima Nova"/>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1300.41</a:t>
                      </a:r>
                      <a:endParaRPr sz="700">
                        <a:solidFill>
                          <a:srgbClr val="FFFFFF"/>
                        </a:solidFill>
                        <a:latin typeface="Proxima Nova"/>
                        <a:ea typeface="Proxima Nova"/>
                        <a:cs typeface="Proxima Nova"/>
                        <a:sym typeface="Proxima Nova"/>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Test Accuracy</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62.50%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Accuracy</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0.6250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Precision</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Clr>
                          <a:srgbClr val="000000"/>
                        </a:buClr>
                        <a:buSzPts val="1100"/>
                        <a:buFont typeface="Arial"/>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Recall</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0.6250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r h="439925">
                <a:tc>
                  <a:txBody>
                    <a:bodyPr/>
                    <a:lstStyle/>
                    <a:p>
                      <a:pPr indent="0" lvl="0" marL="0" rtl="0" algn="l">
                        <a:spcBef>
                          <a:spcPts val="0"/>
                        </a:spcBef>
                        <a:spcAft>
                          <a:spcPts val="0"/>
                        </a:spcAft>
                        <a:buNone/>
                      </a:pPr>
                      <a:r>
                        <a:rPr b="1" lang="en" sz="800">
                          <a:solidFill>
                            <a:srgbClr val="FFFFFF"/>
                          </a:solidFill>
                          <a:latin typeface="Montserrat"/>
                          <a:ea typeface="Montserrat"/>
                          <a:cs typeface="Montserrat"/>
                          <a:sym typeface="Montserrat"/>
                        </a:rPr>
                        <a:t>F1 Score</a:t>
                      </a:r>
                      <a:endParaRPr b="1" sz="800">
                        <a:solidFill>
                          <a:srgbClr val="FFFFFF"/>
                        </a:solidFill>
                        <a:latin typeface="Montserrat"/>
                        <a:ea typeface="Montserrat"/>
                        <a:cs typeface="Montserrat"/>
                        <a:sym typeface="Montserrat"/>
                      </a:endParaRPr>
                    </a:p>
                  </a:txBody>
                  <a:tcPr marT="91425" marB="91425" marR="91425" marL="91425"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D00D2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1.0000</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c>
                  <a:txBody>
                    <a:bodyPr/>
                    <a:lstStyle/>
                    <a:p>
                      <a:pPr indent="0" lvl="0" marL="0" rtl="0" algn="just">
                        <a:spcBef>
                          <a:spcPts val="0"/>
                        </a:spcBef>
                        <a:spcAft>
                          <a:spcPts val="0"/>
                        </a:spcAft>
                        <a:buNone/>
                      </a:pPr>
                      <a:r>
                        <a:rPr lang="en" sz="700">
                          <a:solidFill>
                            <a:srgbClr val="FFFFFF"/>
                          </a:solidFill>
                          <a:latin typeface="Proxima Nova"/>
                          <a:ea typeface="Proxima Nova"/>
                          <a:cs typeface="Proxima Nova"/>
                          <a:sym typeface="Proxima Nova"/>
                        </a:rPr>
                        <a:t>0.7692</a:t>
                      </a:r>
                      <a:endParaRPr sz="700">
                        <a:solidFill>
                          <a:srgbClr val="FFFFFF"/>
                        </a:solidFill>
                        <a:latin typeface="Proxima Nova"/>
                        <a:ea typeface="Proxima Nova"/>
                        <a:cs typeface="Proxima Nova"/>
                        <a:sym typeface="Proxima Nov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2E6D"/>
                    </a:solidFill>
                  </a:tcPr>
                </a:tc>
              </a:tr>
            </a:tbl>
          </a:graphicData>
        </a:graphic>
      </p:graphicFrame>
      <p:sp>
        <p:nvSpPr>
          <p:cNvPr id="169" name="Google Shape;169;p16"/>
          <p:cNvSpPr txBox="1"/>
          <p:nvPr/>
        </p:nvSpPr>
        <p:spPr>
          <a:xfrm>
            <a:off x="111000" y="562550"/>
            <a:ext cx="3775500" cy="1364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b="1" lang="en" sz="1100">
                <a:solidFill>
                  <a:srgbClr val="758592"/>
                </a:solidFill>
                <a:latin typeface="Proxima Nova"/>
                <a:ea typeface="Proxima Nova"/>
                <a:cs typeface="Proxima Nova"/>
                <a:sym typeface="Proxima Nova"/>
              </a:rPr>
              <a:t>Evaluation and Comparison:</a:t>
            </a:r>
            <a:endParaRPr b="1" sz="1100">
              <a:solidFill>
                <a:srgbClr val="758592"/>
              </a:solidFill>
              <a:latin typeface="Proxima Nova"/>
              <a:ea typeface="Proxima Nova"/>
              <a:cs typeface="Proxima Nova"/>
              <a:sym typeface="Proxima Nova"/>
            </a:endParaRPr>
          </a:p>
          <a:p>
            <a:pPr indent="-298450" lvl="0" marL="457200" rtl="0" algn="just">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initial NN model displayed remarkable performance, achieving 100% accuracy, precision, recall, and F1 score. This suggests overfitting or potential data leakage issues.</a:t>
            </a:r>
            <a:endParaRPr sz="1100">
              <a:solidFill>
                <a:srgbClr val="758592"/>
              </a:solidFill>
              <a:latin typeface="Proxima Nova"/>
              <a:ea typeface="Proxima Nova"/>
              <a:cs typeface="Proxima Nova"/>
              <a:sym typeface="Proxima Nova"/>
            </a:endParaRPr>
          </a:p>
          <a:p>
            <a:pPr indent="-298450" lvl="0" marL="457200" rtl="0" algn="just">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tuned NN model, however, exhibits a more realistic and generalized performance with a 62.50% accuracy, indicating a balanced model.</a:t>
            </a:r>
            <a:endParaRPr sz="1100">
              <a:solidFill>
                <a:srgbClr val="758592"/>
              </a:solidFill>
              <a:latin typeface="Proxima Nova"/>
              <a:ea typeface="Proxima Nova"/>
              <a:cs typeface="Proxima Nova"/>
              <a:sym typeface="Proxima Nova"/>
            </a:endParaRPr>
          </a:p>
          <a:p>
            <a:pPr indent="-298450" lvl="0" marL="457200" rtl="0" algn="just">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confusion matrix for the tuned NN model reveals areas of improvement, particularly in handling false positives and false negatives.</a:t>
            </a:r>
            <a:endParaRPr sz="1100">
              <a:solidFill>
                <a:srgbClr val="758592"/>
              </a:solidFill>
              <a:latin typeface="Proxima Nova"/>
              <a:ea typeface="Proxima Nova"/>
              <a:cs typeface="Proxima Nova"/>
              <a:sym typeface="Proxima Nova"/>
            </a:endParaRPr>
          </a:p>
          <a:p>
            <a:pPr indent="-298450" lvl="0" marL="457200" rtl="0" algn="just">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increase in test loss for the tuned model suggests a slight decrease in predictive accuracy but is crucial for avoiding overfitting.</a:t>
            </a:r>
            <a:endParaRPr sz="1100">
              <a:solidFill>
                <a:srgbClr val="758592"/>
              </a:solidFill>
              <a:latin typeface="Proxima Nova"/>
              <a:ea typeface="Proxima Nova"/>
              <a:cs typeface="Proxima Nova"/>
              <a:sym typeface="Proxima Nova"/>
            </a:endParaRPr>
          </a:p>
          <a:p>
            <a:pPr indent="-298450" lvl="0" marL="457200" rtl="0" algn="just">
              <a:lnSpc>
                <a:spcPct val="100000"/>
              </a:lnSpc>
              <a:spcBef>
                <a:spcPts val="0"/>
              </a:spcBef>
              <a:spcAft>
                <a:spcPts val="0"/>
              </a:spcAft>
              <a:buClr>
                <a:schemeClr val="dk1"/>
              </a:buClr>
              <a:buSzPts val="1100"/>
              <a:buChar char="●"/>
            </a:pPr>
            <a:r>
              <a:rPr lang="en" sz="1100">
                <a:solidFill>
                  <a:srgbClr val="758592"/>
                </a:solidFill>
                <a:latin typeface="Proxima Nova"/>
                <a:ea typeface="Proxima Nova"/>
                <a:cs typeface="Proxima Nova"/>
                <a:sym typeface="Proxima Nova"/>
              </a:rPr>
              <a:t>The tuned model's F1 score highlights its ability to balance precision and recall, providing a more comprehensive evaluation metric.</a:t>
            </a:r>
            <a:endParaRPr sz="1100">
              <a:solidFill>
                <a:srgbClr val="758592"/>
              </a:solidFill>
              <a:latin typeface="Proxima Nova"/>
              <a:ea typeface="Proxima Nova"/>
              <a:cs typeface="Proxima Nova"/>
              <a:sym typeface="Proxima Nova"/>
            </a:endParaRPr>
          </a:p>
          <a:p>
            <a:pPr indent="0" lvl="0" marL="0" rtl="0" algn="just">
              <a:lnSpc>
                <a:spcPct val="100000"/>
              </a:lnSpc>
              <a:spcBef>
                <a:spcPts val="0"/>
              </a:spcBef>
              <a:spcAft>
                <a:spcPts val="0"/>
              </a:spcAft>
              <a:buNone/>
            </a:pPr>
            <a:r>
              <a:t/>
            </a:r>
            <a:endParaRPr sz="1100">
              <a:solidFill>
                <a:srgbClr val="758592"/>
              </a:solidFill>
              <a:latin typeface="Proxima Nova"/>
              <a:ea typeface="Proxima Nova"/>
              <a:cs typeface="Proxima Nova"/>
              <a:sym typeface="Proxima Nova"/>
            </a:endParaRPr>
          </a:p>
          <a:p>
            <a:pPr indent="0" lvl="0" marL="0" rtl="0" algn="just">
              <a:lnSpc>
                <a:spcPct val="100000"/>
              </a:lnSpc>
              <a:spcBef>
                <a:spcPts val="0"/>
              </a:spcBef>
              <a:spcAft>
                <a:spcPts val="0"/>
              </a:spcAft>
              <a:buClr>
                <a:schemeClr val="dk1"/>
              </a:buClr>
              <a:buSzPts val="1100"/>
              <a:buFont typeface="Arial"/>
              <a:buNone/>
            </a:pPr>
            <a:r>
              <a:rPr lang="en" sz="1100">
                <a:solidFill>
                  <a:srgbClr val="758592"/>
                </a:solidFill>
                <a:latin typeface="Proxima Nova"/>
                <a:ea typeface="Proxima Nova"/>
                <a:cs typeface="Proxima Nova"/>
                <a:sym typeface="Proxima Nova"/>
              </a:rPr>
              <a:t>The tuned NN model, while not achieving the perfection of the initial model, demonstrates improved generalization and a more reliable performance assessment. Further refinements and hyperparameter tuning may be explored to enhance its capabilities.</a:t>
            </a:r>
            <a:endParaRPr sz="1100">
              <a:solidFill>
                <a:srgbClr val="758592"/>
              </a:solidFill>
              <a:latin typeface="Proxima Nova"/>
              <a:ea typeface="Proxima Nova"/>
              <a:cs typeface="Proxima Nova"/>
              <a:sym typeface="Proxima Nova"/>
            </a:endParaRPr>
          </a:p>
          <a:p>
            <a:pPr indent="0" lvl="0" marL="0" rtl="0" algn="just">
              <a:lnSpc>
                <a:spcPct val="100000"/>
              </a:lnSpc>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ctrTitle"/>
          </p:nvPr>
        </p:nvSpPr>
        <p:spPr>
          <a:xfrm>
            <a:off x="773275" y="-25100"/>
            <a:ext cx="7970700" cy="4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75" name="Google Shape;175;p17"/>
          <p:cNvSpPr txBox="1"/>
          <p:nvPr/>
        </p:nvSpPr>
        <p:spPr>
          <a:xfrm>
            <a:off x="1319314" y="1807607"/>
            <a:ext cx="3247200" cy="6210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The project successfully addressed the challenge of predicting the severity of highway traffic accidents in Nigeria.</a:t>
            </a:r>
            <a:endParaRPr i="0" sz="500" u="none" cap="none" strike="noStrike">
              <a:solidFill>
                <a:srgbClr val="000000"/>
              </a:solidFill>
              <a:latin typeface="Open Sans"/>
              <a:ea typeface="Open Sans"/>
              <a:cs typeface="Open Sans"/>
              <a:sym typeface="Open Sans"/>
            </a:endParaRPr>
          </a:p>
        </p:txBody>
      </p:sp>
      <p:sp>
        <p:nvSpPr>
          <p:cNvPr id="176" name="Google Shape;176;p17"/>
          <p:cNvSpPr/>
          <p:nvPr/>
        </p:nvSpPr>
        <p:spPr>
          <a:xfrm>
            <a:off x="987512" y="1514006"/>
            <a:ext cx="234900" cy="234900"/>
          </a:xfrm>
          <a:prstGeom prst="ellipse">
            <a:avLst/>
          </a:pr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77" name="Google Shape;177;p17"/>
          <p:cNvSpPr txBox="1"/>
          <p:nvPr/>
        </p:nvSpPr>
        <p:spPr>
          <a:xfrm>
            <a:off x="984371" y="1531381"/>
            <a:ext cx="241200" cy="1809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000"/>
              <a:buFont typeface="Maven Pro Medium"/>
              <a:buNone/>
            </a:pPr>
            <a:r>
              <a:rPr b="0" i="0" lang="en" sz="1000" u="none" cap="none" strike="noStrike">
                <a:solidFill>
                  <a:srgbClr val="FFFFFF"/>
                </a:solidFill>
                <a:latin typeface="Maven Pro Medium"/>
                <a:ea typeface="Maven Pro Medium"/>
                <a:cs typeface="Maven Pro Medium"/>
                <a:sym typeface="Maven Pro Medium"/>
              </a:rPr>
              <a:t>1</a:t>
            </a:r>
            <a:endParaRPr b="0" i="0" sz="500" u="none" cap="none" strike="noStrike">
              <a:solidFill>
                <a:srgbClr val="000000"/>
              </a:solidFill>
              <a:latin typeface="Arial"/>
              <a:ea typeface="Arial"/>
              <a:cs typeface="Arial"/>
              <a:sym typeface="Arial"/>
            </a:endParaRPr>
          </a:p>
        </p:txBody>
      </p:sp>
      <p:sp>
        <p:nvSpPr>
          <p:cNvPr id="178" name="Google Shape;178;p17"/>
          <p:cNvSpPr txBox="1"/>
          <p:nvPr/>
        </p:nvSpPr>
        <p:spPr>
          <a:xfrm>
            <a:off x="1315090" y="1495663"/>
            <a:ext cx="2579700" cy="261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500"/>
              <a:buFont typeface="Maven Pro Medium"/>
              <a:buNone/>
            </a:pPr>
            <a:r>
              <a:rPr b="1" lang="en" sz="1200">
                <a:solidFill>
                  <a:srgbClr val="002E6D"/>
                </a:solidFill>
                <a:latin typeface="Montserrat"/>
                <a:ea typeface="Montserrat"/>
                <a:cs typeface="Montserrat"/>
                <a:sym typeface="Montserrat"/>
              </a:rPr>
              <a:t>Project Success</a:t>
            </a:r>
            <a:endParaRPr b="1" i="0" sz="200" u="none" cap="none" strike="noStrike">
              <a:solidFill>
                <a:srgbClr val="002E6D"/>
              </a:solidFill>
              <a:latin typeface="Montserrat"/>
              <a:ea typeface="Montserrat"/>
              <a:cs typeface="Montserrat"/>
              <a:sym typeface="Montserrat"/>
            </a:endParaRPr>
          </a:p>
        </p:txBody>
      </p:sp>
      <p:sp>
        <p:nvSpPr>
          <p:cNvPr id="179" name="Google Shape;179;p17"/>
          <p:cNvSpPr txBox="1"/>
          <p:nvPr/>
        </p:nvSpPr>
        <p:spPr>
          <a:xfrm>
            <a:off x="1319314" y="3045857"/>
            <a:ext cx="3247200" cy="6210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Utilizing both Support Vector Machines (SVM) and Neural Networks (NN) models provided valuable insights into accident causative factors and severity.</a:t>
            </a:r>
            <a:endParaRPr i="0" sz="500" u="none" cap="none" strike="noStrike">
              <a:solidFill>
                <a:srgbClr val="000000"/>
              </a:solidFill>
              <a:latin typeface="Open Sans"/>
              <a:ea typeface="Open Sans"/>
              <a:cs typeface="Open Sans"/>
              <a:sym typeface="Open Sans"/>
            </a:endParaRPr>
          </a:p>
        </p:txBody>
      </p:sp>
      <p:sp>
        <p:nvSpPr>
          <p:cNvPr id="180" name="Google Shape;180;p17"/>
          <p:cNvSpPr/>
          <p:nvPr/>
        </p:nvSpPr>
        <p:spPr>
          <a:xfrm>
            <a:off x="987512" y="2752256"/>
            <a:ext cx="234900" cy="234900"/>
          </a:xfrm>
          <a:prstGeom prst="ellipse">
            <a:avLst/>
          </a:pr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81" name="Google Shape;181;p17"/>
          <p:cNvSpPr txBox="1"/>
          <p:nvPr/>
        </p:nvSpPr>
        <p:spPr>
          <a:xfrm>
            <a:off x="984371" y="2769631"/>
            <a:ext cx="241200" cy="1809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000"/>
              <a:buFont typeface="Maven Pro Medium"/>
              <a:buNone/>
            </a:pPr>
            <a:r>
              <a:rPr b="0" i="0" lang="en" sz="1000" u="none" cap="none" strike="noStrike">
                <a:solidFill>
                  <a:srgbClr val="FFFFFF"/>
                </a:solidFill>
                <a:latin typeface="Maven Pro Medium"/>
                <a:ea typeface="Maven Pro Medium"/>
                <a:cs typeface="Maven Pro Medium"/>
                <a:sym typeface="Maven Pro Medium"/>
              </a:rPr>
              <a:t>2</a:t>
            </a:r>
            <a:endParaRPr b="0" i="0" sz="500" u="none" cap="none" strike="noStrike">
              <a:solidFill>
                <a:srgbClr val="000000"/>
              </a:solidFill>
              <a:latin typeface="Arial"/>
              <a:ea typeface="Arial"/>
              <a:cs typeface="Arial"/>
              <a:sym typeface="Arial"/>
            </a:endParaRPr>
          </a:p>
        </p:txBody>
      </p:sp>
      <p:sp>
        <p:nvSpPr>
          <p:cNvPr id="182" name="Google Shape;182;p17"/>
          <p:cNvSpPr txBox="1"/>
          <p:nvPr/>
        </p:nvSpPr>
        <p:spPr>
          <a:xfrm>
            <a:off x="1315090" y="2733913"/>
            <a:ext cx="2579700" cy="261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500"/>
              <a:buFont typeface="Maven Pro Medium"/>
              <a:buNone/>
            </a:pPr>
            <a:r>
              <a:rPr b="1" lang="en" sz="1200">
                <a:solidFill>
                  <a:srgbClr val="002E6D"/>
                </a:solidFill>
                <a:latin typeface="Montserrat"/>
                <a:ea typeface="Montserrat"/>
                <a:cs typeface="Montserrat"/>
                <a:sym typeface="Montserrat"/>
              </a:rPr>
              <a:t>Model Versatility</a:t>
            </a:r>
            <a:endParaRPr b="1" i="0" sz="200" u="none" cap="none" strike="noStrike">
              <a:solidFill>
                <a:srgbClr val="002E6D"/>
              </a:solidFill>
              <a:latin typeface="Montserrat"/>
              <a:ea typeface="Montserrat"/>
              <a:cs typeface="Montserrat"/>
              <a:sym typeface="Montserrat"/>
            </a:endParaRPr>
          </a:p>
        </p:txBody>
      </p:sp>
      <p:sp>
        <p:nvSpPr>
          <p:cNvPr id="183" name="Google Shape;183;p17"/>
          <p:cNvSpPr txBox="1"/>
          <p:nvPr/>
        </p:nvSpPr>
        <p:spPr>
          <a:xfrm>
            <a:off x="5138839" y="1807607"/>
            <a:ext cx="3247200" cy="6210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The SVM model demonstrated exceptional accuracy and precision, especially with the tuned version, showcasing its reliability for accident severity prediction.</a:t>
            </a:r>
            <a:endParaRPr i="0" sz="500" u="none" cap="none" strike="noStrike">
              <a:solidFill>
                <a:srgbClr val="000000"/>
              </a:solidFill>
              <a:latin typeface="Open Sans"/>
              <a:ea typeface="Open Sans"/>
              <a:cs typeface="Open Sans"/>
              <a:sym typeface="Open Sans"/>
            </a:endParaRPr>
          </a:p>
        </p:txBody>
      </p:sp>
      <p:sp>
        <p:nvSpPr>
          <p:cNvPr id="184" name="Google Shape;184;p17"/>
          <p:cNvSpPr/>
          <p:nvPr/>
        </p:nvSpPr>
        <p:spPr>
          <a:xfrm>
            <a:off x="4807037" y="1514006"/>
            <a:ext cx="234900" cy="234900"/>
          </a:xfrm>
          <a:prstGeom prst="ellipse">
            <a:avLst/>
          </a:pr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85" name="Google Shape;185;p17"/>
          <p:cNvSpPr txBox="1"/>
          <p:nvPr/>
        </p:nvSpPr>
        <p:spPr>
          <a:xfrm>
            <a:off x="4803896" y="1531381"/>
            <a:ext cx="241200" cy="1809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000"/>
              <a:buFont typeface="Maven Pro Medium"/>
              <a:buNone/>
            </a:pPr>
            <a:r>
              <a:rPr b="0" i="0" lang="en" sz="1000" u="none" cap="none" strike="noStrike">
                <a:solidFill>
                  <a:srgbClr val="FFFFFF"/>
                </a:solidFill>
                <a:latin typeface="Maven Pro Medium"/>
                <a:ea typeface="Maven Pro Medium"/>
                <a:cs typeface="Maven Pro Medium"/>
                <a:sym typeface="Maven Pro Medium"/>
              </a:rPr>
              <a:t>3</a:t>
            </a:r>
            <a:endParaRPr b="0" i="0" sz="500" u="none" cap="none" strike="noStrike">
              <a:solidFill>
                <a:srgbClr val="000000"/>
              </a:solidFill>
              <a:latin typeface="Arial"/>
              <a:ea typeface="Arial"/>
              <a:cs typeface="Arial"/>
              <a:sym typeface="Arial"/>
            </a:endParaRPr>
          </a:p>
        </p:txBody>
      </p:sp>
      <p:sp>
        <p:nvSpPr>
          <p:cNvPr id="186" name="Google Shape;186;p17"/>
          <p:cNvSpPr txBox="1"/>
          <p:nvPr/>
        </p:nvSpPr>
        <p:spPr>
          <a:xfrm>
            <a:off x="5134615" y="1495663"/>
            <a:ext cx="2579700" cy="261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500"/>
              <a:buFont typeface="Maven Pro Medium"/>
              <a:buNone/>
            </a:pPr>
            <a:r>
              <a:rPr b="1" lang="en" sz="1200">
                <a:solidFill>
                  <a:srgbClr val="002E6D"/>
                </a:solidFill>
                <a:latin typeface="Montserrat"/>
                <a:ea typeface="Montserrat"/>
                <a:cs typeface="Montserrat"/>
                <a:sym typeface="Montserrat"/>
              </a:rPr>
              <a:t>SVM Precision</a:t>
            </a:r>
            <a:endParaRPr b="1" i="0" sz="200" u="none" cap="none" strike="noStrike">
              <a:solidFill>
                <a:srgbClr val="002E6D"/>
              </a:solidFill>
              <a:latin typeface="Montserrat"/>
              <a:ea typeface="Montserrat"/>
              <a:cs typeface="Montserrat"/>
              <a:sym typeface="Montserrat"/>
            </a:endParaRPr>
          </a:p>
        </p:txBody>
      </p:sp>
      <p:sp>
        <p:nvSpPr>
          <p:cNvPr id="187" name="Google Shape;187;p17"/>
          <p:cNvSpPr txBox="1"/>
          <p:nvPr/>
        </p:nvSpPr>
        <p:spPr>
          <a:xfrm>
            <a:off x="5138839" y="3045857"/>
            <a:ext cx="3247200" cy="621000"/>
          </a:xfrm>
          <a:prstGeom prst="rect">
            <a:avLst/>
          </a:prstGeom>
          <a:noFill/>
          <a:ln>
            <a:noFill/>
          </a:ln>
        </p:spPr>
        <p:txBody>
          <a:bodyPr anchorCtr="0" anchor="t" bIns="19050" lIns="19050" spcFirstLastPara="1" rIns="19050" wrap="square" tIns="19050">
            <a:noAutofit/>
          </a:bodyPr>
          <a:lstStyle/>
          <a:p>
            <a:pPr indent="0" lvl="0" marL="0" marR="0" rtl="0" algn="l">
              <a:lnSpc>
                <a:spcPct val="120000"/>
              </a:lnSpc>
              <a:spcBef>
                <a:spcPts val="0"/>
              </a:spcBef>
              <a:spcAft>
                <a:spcPts val="0"/>
              </a:spcAft>
              <a:buClr>
                <a:srgbClr val="646979"/>
              </a:buClr>
              <a:buSzPts val="1000"/>
              <a:buFont typeface="Open Sans"/>
              <a:buNone/>
            </a:pPr>
            <a:r>
              <a:rPr lang="en" sz="1000">
                <a:solidFill>
                  <a:srgbClr val="646979"/>
                </a:solidFill>
                <a:latin typeface="Open Sans"/>
                <a:ea typeface="Open Sans"/>
                <a:cs typeface="Open Sans"/>
                <a:sym typeface="Open Sans"/>
              </a:rPr>
              <a:t>Further improvements and exploration can focus on refining the Neural Network model for enhanced predictive capabilities.</a:t>
            </a:r>
            <a:endParaRPr i="0" sz="500" u="none" cap="none" strike="noStrike">
              <a:solidFill>
                <a:srgbClr val="000000"/>
              </a:solidFill>
              <a:latin typeface="Open Sans"/>
              <a:ea typeface="Open Sans"/>
              <a:cs typeface="Open Sans"/>
              <a:sym typeface="Open Sans"/>
            </a:endParaRPr>
          </a:p>
        </p:txBody>
      </p:sp>
      <p:sp>
        <p:nvSpPr>
          <p:cNvPr id="188" name="Google Shape;188;p17"/>
          <p:cNvSpPr/>
          <p:nvPr/>
        </p:nvSpPr>
        <p:spPr>
          <a:xfrm>
            <a:off x="4807037" y="2752256"/>
            <a:ext cx="234900" cy="234900"/>
          </a:xfrm>
          <a:prstGeom prst="ellipse">
            <a:avLst/>
          </a:prstGeom>
          <a:gradFill>
            <a:gsLst>
              <a:gs pos="0">
                <a:srgbClr val="D00D2D"/>
              </a:gs>
              <a:gs pos="100000">
                <a:srgbClr val="840D35"/>
              </a:gs>
            </a:gsLst>
            <a:lin ang="2015895"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Helvetica Neue"/>
              <a:buNone/>
            </a:pPr>
            <a:r>
              <a:t/>
            </a:r>
            <a:endParaRPr b="1" i="0" sz="1100" u="none" cap="none" strike="noStrike">
              <a:solidFill>
                <a:srgbClr val="000000"/>
              </a:solidFill>
              <a:latin typeface="Helvetica Neue"/>
              <a:ea typeface="Helvetica Neue"/>
              <a:cs typeface="Helvetica Neue"/>
              <a:sym typeface="Helvetica Neue"/>
            </a:endParaRPr>
          </a:p>
        </p:txBody>
      </p:sp>
      <p:sp>
        <p:nvSpPr>
          <p:cNvPr id="189" name="Google Shape;189;p17"/>
          <p:cNvSpPr txBox="1"/>
          <p:nvPr/>
        </p:nvSpPr>
        <p:spPr>
          <a:xfrm>
            <a:off x="4803896" y="2769631"/>
            <a:ext cx="241200" cy="1809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000"/>
              <a:buFont typeface="Maven Pro Medium"/>
              <a:buNone/>
            </a:pPr>
            <a:r>
              <a:rPr b="0" i="0" lang="en" sz="1000" u="none" cap="none" strike="noStrike">
                <a:solidFill>
                  <a:srgbClr val="FFFFFF"/>
                </a:solidFill>
                <a:latin typeface="Maven Pro Medium"/>
                <a:ea typeface="Maven Pro Medium"/>
                <a:cs typeface="Maven Pro Medium"/>
                <a:sym typeface="Maven Pro Medium"/>
              </a:rPr>
              <a:t>4</a:t>
            </a:r>
            <a:endParaRPr b="0" i="0" sz="500" u="none" cap="none" strike="noStrike">
              <a:solidFill>
                <a:srgbClr val="000000"/>
              </a:solidFill>
              <a:latin typeface="Arial"/>
              <a:ea typeface="Arial"/>
              <a:cs typeface="Arial"/>
              <a:sym typeface="Arial"/>
            </a:endParaRPr>
          </a:p>
        </p:txBody>
      </p:sp>
      <p:sp>
        <p:nvSpPr>
          <p:cNvPr id="190" name="Google Shape;190;p17"/>
          <p:cNvSpPr txBox="1"/>
          <p:nvPr/>
        </p:nvSpPr>
        <p:spPr>
          <a:xfrm>
            <a:off x="5134615" y="2733913"/>
            <a:ext cx="2579700" cy="2619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31333D"/>
              </a:buClr>
              <a:buSzPts val="1500"/>
              <a:buFont typeface="Maven Pro Medium"/>
              <a:buNone/>
            </a:pPr>
            <a:r>
              <a:rPr b="1" lang="en" sz="1200">
                <a:solidFill>
                  <a:srgbClr val="002E6D"/>
                </a:solidFill>
                <a:latin typeface="Montserrat"/>
                <a:ea typeface="Montserrat"/>
                <a:cs typeface="Montserrat"/>
                <a:sym typeface="Montserrat"/>
              </a:rPr>
              <a:t>NN Exploration</a:t>
            </a:r>
            <a:endParaRPr b="1" i="0" sz="200" u="none" cap="none" strike="noStrike">
              <a:solidFill>
                <a:srgbClr val="002E6D"/>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nvSpPr>
        <p:spPr>
          <a:xfrm>
            <a:off x="843725" y="1751325"/>
            <a:ext cx="4918800" cy="1049100"/>
          </a:xfrm>
          <a:prstGeom prst="rect">
            <a:avLst/>
          </a:prstGeom>
          <a:noFill/>
          <a:ln>
            <a:noFill/>
          </a:ln>
        </p:spPr>
        <p:txBody>
          <a:bodyPr anchorCtr="0" anchor="t" bIns="91425" lIns="91425" spcFirstLastPara="1" rIns="91425" wrap="square" tIns="91425">
            <a:noAutofit/>
          </a:bodyPr>
          <a:lstStyle/>
          <a:p>
            <a:pPr indent="0" lvl="0" marL="0" rtl="0" algn="l">
              <a:lnSpc>
                <a:spcPct val="69000"/>
              </a:lnSpc>
              <a:spcBef>
                <a:spcPts val="50"/>
              </a:spcBef>
              <a:spcAft>
                <a:spcPts val="0"/>
              </a:spcAft>
              <a:buNone/>
            </a:pPr>
            <a:r>
              <a:rPr b="1" lang="en" sz="4500">
                <a:solidFill>
                  <a:srgbClr val="002E6D"/>
                </a:solidFill>
                <a:latin typeface="Montserrat"/>
                <a:ea typeface="Montserrat"/>
                <a:cs typeface="Montserrat"/>
                <a:sym typeface="Montserrat"/>
              </a:rPr>
              <a:t>Thank</a:t>
            </a:r>
            <a:endParaRPr b="1" sz="4500">
              <a:solidFill>
                <a:srgbClr val="002E6D"/>
              </a:solidFill>
              <a:latin typeface="Montserrat"/>
              <a:ea typeface="Montserrat"/>
              <a:cs typeface="Montserrat"/>
              <a:sym typeface="Montserrat"/>
            </a:endParaRPr>
          </a:p>
          <a:p>
            <a:pPr indent="0" lvl="0" marL="0" rtl="0" algn="l">
              <a:lnSpc>
                <a:spcPct val="69000"/>
              </a:lnSpc>
              <a:spcBef>
                <a:spcPts val="50"/>
              </a:spcBef>
              <a:spcAft>
                <a:spcPts val="50"/>
              </a:spcAft>
              <a:buNone/>
            </a:pPr>
            <a:r>
              <a:rPr b="1" lang="en" sz="4500">
                <a:solidFill>
                  <a:srgbClr val="002E6D"/>
                </a:solidFill>
                <a:latin typeface="Montserrat"/>
                <a:ea typeface="Montserrat"/>
                <a:cs typeface="Montserrat"/>
                <a:sym typeface="Montserrat"/>
              </a:rPr>
              <a:t>You</a:t>
            </a:r>
            <a:endParaRPr b="1" sz="4500">
              <a:solidFill>
                <a:srgbClr val="002E6D"/>
              </a:solidFill>
              <a:latin typeface="Montserrat"/>
              <a:ea typeface="Montserrat"/>
              <a:cs typeface="Montserrat"/>
              <a:sym typeface="Montserrat"/>
            </a:endParaRPr>
          </a:p>
        </p:txBody>
      </p:sp>
      <p:sp>
        <p:nvSpPr>
          <p:cNvPr id="196" name="Google Shape;196;p18"/>
          <p:cNvSpPr txBox="1"/>
          <p:nvPr/>
        </p:nvSpPr>
        <p:spPr>
          <a:xfrm>
            <a:off x="953225" y="2714625"/>
            <a:ext cx="4623600" cy="391800"/>
          </a:xfrm>
          <a:prstGeom prst="rect">
            <a:avLst/>
          </a:prstGeom>
          <a:noFill/>
          <a:ln>
            <a:noFill/>
          </a:ln>
        </p:spPr>
        <p:txBody>
          <a:bodyPr anchorCtr="0" anchor="t" bIns="91425" lIns="91425" spcFirstLastPara="1" rIns="91425" wrap="square" tIns="91425">
            <a:noAutofit/>
          </a:bodyPr>
          <a:lstStyle/>
          <a:p>
            <a:pPr indent="0" lvl="0" marL="0" rtl="0" algn="l">
              <a:lnSpc>
                <a:spcPct val="79000"/>
              </a:lnSpc>
              <a:spcBef>
                <a:spcPts val="50"/>
              </a:spcBef>
              <a:spcAft>
                <a:spcPts val="50"/>
              </a:spcAft>
              <a:buNone/>
            </a:pPr>
            <a:r>
              <a:rPr lang="en">
                <a:solidFill>
                  <a:srgbClr val="758592"/>
                </a:solidFill>
                <a:latin typeface="Montserrat"/>
                <a:ea typeface="Montserrat"/>
                <a:cs typeface="Montserrat"/>
                <a:sym typeface="Montserrat"/>
              </a:rPr>
              <a:t>www.alc.alueducation.com</a:t>
            </a:r>
            <a:endParaRPr>
              <a:solidFill>
                <a:srgbClr val="75859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U Pitch Deck Template 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